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706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3774948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1057656"/>
            <a:ext cx="3777996" cy="5658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4152" y="2383535"/>
            <a:ext cx="5379720" cy="416559"/>
          </a:xfrm>
          <a:custGeom>
            <a:avLst/>
            <a:gdLst/>
            <a:ahLst/>
            <a:cxnLst/>
            <a:rect l="l" t="t" r="r" b="b"/>
            <a:pathLst>
              <a:path w="5379720" h="416560">
                <a:moveTo>
                  <a:pt x="0" y="33527"/>
                </a:moveTo>
                <a:lnTo>
                  <a:pt x="2428" y="20573"/>
                </a:lnTo>
                <a:lnTo>
                  <a:pt x="9144" y="9905"/>
                </a:lnTo>
                <a:lnTo>
                  <a:pt x="19288" y="2666"/>
                </a:lnTo>
                <a:lnTo>
                  <a:pt x="32004" y="0"/>
                </a:lnTo>
                <a:lnTo>
                  <a:pt x="5347716" y="0"/>
                </a:lnTo>
                <a:lnTo>
                  <a:pt x="5359788" y="2666"/>
                </a:lnTo>
                <a:lnTo>
                  <a:pt x="5370004" y="9905"/>
                </a:lnTo>
                <a:lnTo>
                  <a:pt x="5377076" y="20573"/>
                </a:lnTo>
                <a:lnTo>
                  <a:pt x="5379719" y="33527"/>
                </a:lnTo>
                <a:lnTo>
                  <a:pt x="5379719" y="384047"/>
                </a:lnTo>
                <a:lnTo>
                  <a:pt x="5377076" y="396120"/>
                </a:lnTo>
                <a:lnTo>
                  <a:pt x="5370004" y="406336"/>
                </a:lnTo>
                <a:lnTo>
                  <a:pt x="5359788" y="413408"/>
                </a:lnTo>
                <a:lnTo>
                  <a:pt x="5347716" y="416051"/>
                </a:lnTo>
                <a:lnTo>
                  <a:pt x="32004" y="416051"/>
                </a:lnTo>
                <a:lnTo>
                  <a:pt x="19288" y="413408"/>
                </a:lnTo>
                <a:lnTo>
                  <a:pt x="9143" y="406336"/>
                </a:lnTo>
                <a:lnTo>
                  <a:pt x="2428" y="396120"/>
                </a:lnTo>
                <a:lnTo>
                  <a:pt x="0" y="384047"/>
                </a:lnTo>
                <a:lnTo>
                  <a:pt x="0" y="33527"/>
                </a:lnTo>
                <a:close/>
              </a:path>
            </a:pathLst>
          </a:custGeom>
          <a:ln w="10668">
            <a:solidFill>
              <a:srgbClr val="BF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54152" y="2839212"/>
            <a:ext cx="5379720" cy="414655"/>
          </a:xfrm>
          <a:custGeom>
            <a:avLst/>
            <a:gdLst/>
            <a:ahLst/>
            <a:cxnLst/>
            <a:rect l="l" t="t" r="r" b="b"/>
            <a:pathLst>
              <a:path w="5379720" h="414654">
                <a:moveTo>
                  <a:pt x="0" y="32003"/>
                </a:moveTo>
                <a:lnTo>
                  <a:pt x="2428" y="19288"/>
                </a:lnTo>
                <a:lnTo>
                  <a:pt x="9144" y="9143"/>
                </a:lnTo>
                <a:lnTo>
                  <a:pt x="19288" y="2428"/>
                </a:lnTo>
                <a:lnTo>
                  <a:pt x="32004" y="0"/>
                </a:lnTo>
                <a:lnTo>
                  <a:pt x="5347716" y="0"/>
                </a:lnTo>
                <a:lnTo>
                  <a:pt x="5359788" y="2428"/>
                </a:lnTo>
                <a:lnTo>
                  <a:pt x="5370004" y="9143"/>
                </a:lnTo>
                <a:lnTo>
                  <a:pt x="5377076" y="19288"/>
                </a:lnTo>
                <a:lnTo>
                  <a:pt x="5379719" y="32003"/>
                </a:lnTo>
                <a:lnTo>
                  <a:pt x="5379719" y="382523"/>
                </a:lnTo>
                <a:lnTo>
                  <a:pt x="5377076" y="395239"/>
                </a:lnTo>
                <a:lnTo>
                  <a:pt x="5370004" y="405384"/>
                </a:lnTo>
                <a:lnTo>
                  <a:pt x="5359788" y="412099"/>
                </a:lnTo>
                <a:lnTo>
                  <a:pt x="5347716" y="414527"/>
                </a:lnTo>
                <a:lnTo>
                  <a:pt x="32004" y="414527"/>
                </a:lnTo>
                <a:lnTo>
                  <a:pt x="19288" y="412099"/>
                </a:lnTo>
                <a:lnTo>
                  <a:pt x="9143" y="405384"/>
                </a:lnTo>
                <a:lnTo>
                  <a:pt x="2428" y="395239"/>
                </a:lnTo>
                <a:lnTo>
                  <a:pt x="0" y="382523"/>
                </a:lnTo>
                <a:lnTo>
                  <a:pt x="0" y="32003"/>
                </a:lnTo>
                <a:close/>
              </a:path>
            </a:pathLst>
          </a:custGeom>
          <a:ln w="10668">
            <a:solidFill>
              <a:srgbClr val="BF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4152" y="3293363"/>
            <a:ext cx="5379720" cy="416559"/>
          </a:xfrm>
          <a:custGeom>
            <a:avLst/>
            <a:gdLst/>
            <a:ahLst/>
            <a:cxnLst/>
            <a:rect l="l" t="t" r="r" b="b"/>
            <a:pathLst>
              <a:path w="5379720" h="416560">
                <a:moveTo>
                  <a:pt x="0" y="32003"/>
                </a:moveTo>
                <a:lnTo>
                  <a:pt x="2428" y="19931"/>
                </a:lnTo>
                <a:lnTo>
                  <a:pt x="9144" y="9715"/>
                </a:lnTo>
                <a:lnTo>
                  <a:pt x="19288" y="2643"/>
                </a:lnTo>
                <a:lnTo>
                  <a:pt x="32004" y="0"/>
                </a:lnTo>
                <a:lnTo>
                  <a:pt x="5347716" y="0"/>
                </a:lnTo>
                <a:lnTo>
                  <a:pt x="5359788" y="2643"/>
                </a:lnTo>
                <a:lnTo>
                  <a:pt x="5370004" y="9715"/>
                </a:lnTo>
                <a:lnTo>
                  <a:pt x="5377076" y="19931"/>
                </a:lnTo>
                <a:lnTo>
                  <a:pt x="5379719" y="32003"/>
                </a:lnTo>
                <a:lnTo>
                  <a:pt x="5379719" y="382523"/>
                </a:lnTo>
                <a:lnTo>
                  <a:pt x="5377076" y="395477"/>
                </a:lnTo>
                <a:lnTo>
                  <a:pt x="5370004" y="406146"/>
                </a:lnTo>
                <a:lnTo>
                  <a:pt x="5359788" y="413385"/>
                </a:lnTo>
                <a:lnTo>
                  <a:pt x="5347716" y="416051"/>
                </a:lnTo>
                <a:lnTo>
                  <a:pt x="32004" y="416051"/>
                </a:lnTo>
                <a:lnTo>
                  <a:pt x="19288" y="413385"/>
                </a:lnTo>
                <a:lnTo>
                  <a:pt x="9143" y="406146"/>
                </a:lnTo>
                <a:lnTo>
                  <a:pt x="2428" y="395477"/>
                </a:lnTo>
                <a:lnTo>
                  <a:pt x="0" y="382523"/>
                </a:lnTo>
                <a:lnTo>
                  <a:pt x="0" y="32003"/>
                </a:lnTo>
                <a:close/>
              </a:path>
            </a:pathLst>
          </a:custGeom>
          <a:ln w="10668">
            <a:solidFill>
              <a:srgbClr val="BF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54152" y="3747515"/>
            <a:ext cx="5379720" cy="416559"/>
          </a:xfrm>
          <a:custGeom>
            <a:avLst/>
            <a:gdLst/>
            <a:ahLst/>
            <a:cxnLst/>
            <a:rect l="l" t="t" r="r" b="b"/>
            <a:pathLst>
              <a:path w="5379720" h="416560">
                <a:moveTo>
                  <a:pt x="0" y="33527"/>
                </a:moveTo>
                <a:lnTo>
                  <a:pt x="2428" y="20573"/>
                </a:lnTo>
                <a:lnTo>
                  <a:pt x="9144" y="9905"/>
                </a:lnTo>
                <a:lnTo>
                  <a:pt x="19288" y="2666"/>
                </a:lnTo>
                <a:lnTo>
                  <a:pt x="32004" y="0"/>
                </a:lnTo>
                <a:lnTo>
                  <a:pt x="5347716" y="0"/>
                </a:lnTo>
                <a:lnTo>
                  <a:pt x="5359788" y="2666"/>
                </a:lnTo>
                <a:lnTo>
                  <a:pt x="5370004" y="9905"/>
                </a:lnTo>
                <a:lnTo>
                  <a:pt x="5377076" y="20573"/>
                </a:lnTo>
                <a:lnTo>
                  <a:pt x="5379719" y="33527"/>
                </a:lnTo>
                <a:lnTo>
                  <a:pt x="5379719" y="382523"/>
                </a:lnTo>
                <a:lnTo>
                  <a:pt x="5377076" y="395477"/>
                </a:lnTo>
                <a:lnTo>
                  <a:pt x="5370004" y="406146"/>
                </a:lnTo>
                <a:lnTo>
                  <a:pt x="5359788" y="413385"/>
                </a:lnTo>
                <a:lnTo>
                  <a:pt x="5347716" y="416051"/>
                </a:lnTo>
                <a:lnTo>
                  <a:pt x="32004" y="416051"/>
                </a:lnTo>
                <a:lnTo>
                  <a:pt x="19288" y="413385"/>
                </a:lnTo>
                <a:lnTo>
                  <a:pt x="9143" y="406146"/>
                </a:lnTo>
                <a:lnTo>
                  <a:pt x="2428" y="395477"/>
                </a:lnTo>
                <a:lnTo>
                  <a:pt x="0" y="382523"/>
                </a:lnTo>
                <a:lnTo>
                  <a:pt x="0" y="33527"/>
                </a:lnTo>
                <a:close/>
              </a:path>
            </a:pathLst>
          </a:custGeom>
          <a:ln w="10668">
            <a:solidFill>
              <a:srgbClr val="BFC1D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" y="4421123"/>
            <a:ext cx="399287" cy="14127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20911" y="6377939"/>
            <a:ext cx="1196339" cy="2706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367" y="1691121"/>
            <a:ext cx="8801100" cy="98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390" y="3205967"/>
            <a:ext cx="5207635" cy="2052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6342" y="3000250"/>
            <a:ext cx="4270375" cy="98107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ts val="3850"/>
              </a:lnSpc>
              <a:spcBef>
                <a:spcPts val="20"/>
              </a:spcBef>
            </a:pPr>
            <a:r>
              <a:rPr dirty="0" spc="-180"/>
              <a:t>Introduction:</a:t>
            </a:r>
            <a:r>
              <a:rPr dirty="0" spc="35"/>
              <a:t> </a:t>
            </a:r>
            <a:r>
              <a:rPr dirty="0" spc="-80"/>
              <a:t>EventHub </a:t>
            </a:r>
            <a:r>
              <a:rPr dirty="0" spc="-10"/>
              <a:t>Platform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06281" y="4198034"/>
            <a:ext cx="4953000" cy="53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20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comprehensive</a:t>
            </a:r>
            <a:r>
              <a:rPr dirty="0" sz="1200" spc="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solution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addressing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fragmented</a:t>
            </a:r>
            <a:r>
              <a:rPr dirty="0" sz="12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information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Bangalore's</a:t>
            </a:r>
            <a:r>
              <a:rPr dirty="0" sz="12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2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circuit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3856" y="6292596"/>
            <a:ext cx="1303019" cy="4114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1057656"/>
            <a:ext cx="3777996" cy="5658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367" y="2495877"/>
            <a:ext cx="1586865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75"/>
              <a:t>Abstract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5"/>
              </a:spcBef>
            </a:pPr>
            <a:r>
              <a:rPr dirty="0" spc="20"/>
              <a:t>EventHub.com</a:t>
            </a:r>
            <a:r>
              <a:rPr dirty="0" spc="130"/>
              <a:t> </a:t>
            </a:r>
            <a:r>
              <a:rPr dirty="0" spc="60"/>
              <a:t>addresses</a:t>
            </a:r>
            <a:r>
              <a:rPr dirty="0" spc="135"/>
              <a:t> </a:t>
            </a:r>
            <a:r>
              <a:rPr dirty="0" spc="20"/>
              <a:t>the</a:t>
            </a:r>
            <a:r>
              <a:rPr dirty="0" spc="80"/>
              <a:t> </a:t>
            </a:r>
            <a:r>
              <a:rPr dirty="0" spc="20"/>
              <a:t>fragmented</a:t>
            </a:r>
            <a:r>
              <a:rPr dirty="0" spc="140"/>
              <a:t> </a:t>
            </a:r>
            <a:r>
              <a:rPr dirty="0" spc="20"/>
              <a:t>event</a:t>
            </a:r>
            <a:r>
              <a:rPr dirty="0" spc="100"/>
              <a:t> </a:t>
            </a:r>
            <a:r>
              <a:rPr dirty="0" spc="20"/>
              <a:t>information</a:t>
            </a:r>
            <a:r>
              <a:rPr dirty="0" spc="130"/>
              <a:t> </a:t>
            </a:r>
            <a:r>
              <a:rPr dirty="0" spc="-10"/>
              <a:t>problem </a:t>
            </a:r>
            <a:r>
              <a:rPr dirty="0" spc="70"/>
              <a:t>across</a:t>
            </a:r>
            <a:r>
              <a:rPr dirty="0" spc="80"/>
              <a:t> </a:t>
            </a:r>
            <a:r>
              <a:rPr dirty="0" spc="50"/>
              <a:t>Bangalore's</a:t>
            </a:r>
            <a:r>
              <a:rPr dirty="0" spc="140"/>
              <a:t> </a:t>
            </a:r>
            <a:r>
              <a:rPr dirty="0" spc="55"/>
              <a:t>college</a:t>
            </a:r>
            <a:r>
              <a:rPr dirty="0" spc="125"/>
              <a:t> </a:t>
            </a:r>
            <a:r>
              <a:rPr dirty="0" spc="10"/>
              <a:t>circuit.</a:t>
            </a:r>
            <a:r>
              <a:rPr dirty="0" spc="80"/>
              <a:t> </a:t>
            </a:r>
            <a:r>
              <a:rPr dirty="0" spc="50"/>
              <a:t>This</a:t>
            </a:r>
            <a:r>
              <a:rPr dirty="0" spc="80"/>
              <a:t> </a:t>
            </a:r>
            <a:r>
              <a:rPr dirty="0" spc="10"/>
              <a:t>centralised</a:t>
            </a:r>
            <a:r>
              <a:rPr dirty="0" spc="125"/>
              <a:t> </a:t>
            </a:r>
            <a:r>
              <a:rPr dirty="0" spc="10"/>
              <a:t>platform</a:t>
            </a:r>
            <a:r>
              <a:rPr dirty="0" spc="114"/>
              <a:t> </a:t>
            </a:r>
            <a:r>
              <a:rPr dirty="0" spc="45"/>
              <a:t>empowers </a:t>
            </a:r>
            <a:r>
              <a:rPr dirty="0"/>
              <a:t>students</a:t>
            </a:r>
            <a:r>
              <a:rPr dirty="0" spc="170"/>
              <a:t> </a:t>
            </a:r>
            <a:r>
              <a:rPr dirty="0"/>
              <a:t>to</a:t>
            </a:r>
            <a:r>
              <a:rPr dirty="0" spc="114"/>
              <a:t> </a:t>
            </a:r>
            <a:r>
              <a:rPr dirty="0" spc="50"/>
              <a:t>seamlessly</a:t>
            </a:r>
            <a:r>
              <a:rPr dirty="0" spc="185"/>
              <a:t> </a:t>
            </a:r>
            <a:r>
              <a:rPr dirty="0" spc="50"/>
              <a:t>discover,</a:t>
            </a:r>
            <a:r>
              <a:rPr dirty="0" spc="160"/>
              <a:t> </a:t>
            </a:r>
            <a:r>
              <a:rPr dirty="0"/>
              <a:t>register</a:t>
            </a:r>
            <a:r>
              <a:rPr dirty="0" spc="175"/>
              <a:t> </a:t>
            </a:r>
            <a:r>
              <a:rPr dirty="0"/>
              <a:t>for,</a:t>
            </a:r>
            <a:r>
              <a:rPr dirty="0" spc="120"/>
              <a:t> </a:t>
            </a:r>
            <a:r>
              <a:rPr dirty="0"/>
              <a:t>and</a:t>
            </a:r>
            <a:r>
              <a:rPr dirty="0" spc="150"/>
              <a:t> </a:t>
            </a:r>
            <a:r>
              <a:rPr dirty="0"/>
              <a:t>attend</a:t>
            </a:r>
            <a:r>
              <a:rPr dirty="0" spc="160"/>
              <a:t> </a:t>
            </a:r>
            <a:r>
              <a:rPr dirty="0"/>
              <a:t>inter-</a:t>
            </a:r>
            <a:r>
              <a:rPr dirty="0" spc="45"/>
              <a:t>college </a:t>
            </a:r>
            <a:r>
              <a:rPr dirty="0" spc="20"/>
              <a:t>hackathons,</a:t>
            </a:r>
            <a:r>
              <a:rPr dirty="0" spc="130"/>
              <a:t> </a:t>
            </a:r>
            <a:r>
              <a:rPr dirty="0" spc="20"/>
              <a:t>cultural</a:t>
            </a:r>
            <a:r>
              <a:rPr dirty="0" spc="125"/>
              <a:t> </a:t>
            </a:r>
            <a:r>
              <a:rPr dirty="0" spc="20"/>
              <a:t>fests,</a:t>
            </a:r>
            <a:r>
              <a:rPr dirty="0" spc="110"/>
              <a:t> </a:t>
            </a:r>
            <a:r>
              <a:rPr dirty="0" spc="20"/>
              <a:t>and</a:t>
            </a:r>
            <a:r>
              <a:rPr dirty="0" spc="110"/>
              <a:t> </a:t>
            </a:r>
            <a:r>
              <a:rPr dirty="0" spc="50"/>
              <a:t>sports</a:t>
            </a:r>
            <a:r>
              <a:rPr dirty="0" spc="105"/>
              <a:t> </a:t>
            </a:r>
            <a:r>
              <a:rPr dirty="0" spc="20"/>
              <a:t>competitions.</a:t>
            </a:r>
            <a:r>
              <a:rPr dirty="0" spc="135"/>
              <a:t> </a:t>
            </a:r>
            <a:r>
              <a:rPr dirty="0" spc="20"/>
              <a:t>Featuring</a:t>
            </a:r>
            <a:r>
              <a:rPr dirty="0" spc="145"/>
              <a:t> </a:t>
            </a:r>
            <a:r>
              <a:rPr dirty="0" spc="45"/>
              <a:t>Google </a:t>
            </a:r>
            <a:r>
              <a:rPr dirty="0"/>
              <a:t>OAuth,</a:t>
            </a:r>
            <a:r>
              <a:rPr dirty="0" spc="80"/>
              <a:t> </a:t>
            </a:r>
            <a:r>
              <a:rPr dirty="0"/>
              <a:t>filtered</a:t>
            </a:r>
            <a:r>
              <a:rPr dirty="0" spc="90"/>
              <a:t> </a:t>
            </a:r>
            <a:r>
              <a:rPr dirty="0" spc="50"/>
              <a:t>discovery,</a:t>
            </a:r>
            <a:r>
              <a:rPr dirty="0" spc="114"/>
              <a:t> </a:t>
            </a:r>
            <a:r>
              <a:rPr dirty="0" spc="45"/>
              <a:t>organizer</a:t>
            </a:r>
            <a:r>
              <a:rPr dirty="0" spc="100"/>
              <a:t> </a:t>
            </a:r>
            <a:r>
              <a:rPr dirty="0" spc="45"/>
              <a:t>dashboards,</a:t>
            </a:r>
            <a:r>
              <a:rPr dirty="0" spc="114"/>
              <a:t> </a:t>
            </a:r>
            <a:r>
              <a:rPr dirty="0"/>
              <a:t>QR</a:t>
            </a:r>
            <a:r>
              <a:rPr dirty="0" spc="55"/>
              <a:t> </a:t>
            </a:r>
            <a:r>
              <a:rPr dirty="0" spc="80"/>
              <a:t>check-</a:t>
            </a:r>
            <a:r>
              <a:rPr dirty="0"/>
              <a:t>ins,</a:t>
            </a:r>
            <a:r>
              <a:rPr dirty="0" spc="95"/>
              <a:t> </a:t>
            </a:r>
            <a:r>
              <a:rPr dirty="0" spc="-25"/>
              <a:t>and </a:t>
            </a:r>
            <a:r>
              <a:rPr dirty="0" spc="20"/>
              <a:t>automated</a:t>
            </a:r>
            <a:r>
              <a:rPr dirty="0" spc="125"/>
              <a:t> </a:t>
            </a:r>
            <a:r>
              <a:rPr dirty="0" spc="20"/>
              <a:t>confirmations,</a:t>
            </a:r>
            <a:r>
              <a:rPr dirty="0" spc="114"/>
              <a:t> </a:t>
            </a:r>
            <a:r>
              <a:rPr dirty="0" spc="20"/>
              <a:t>EventHub.com</a:t>
            </a:r>
            <a:r>
              <a:rPr dirty="0" spc="135"/>
              <a:t> </a:t>
            </a:r>
            <a:r>
              <a:rPr dirty="0" spc="50"/>
              <a:t>fosters</a:t>
            </a:r>
            <a:r>
              <a:rPr dirty="0" spc="100"/>
              <a:t> </a:t>
            </a:r>
            <a:r>
              <a:rPr dirty="0" spc="20"/>
              <a:t>a</a:t>
            </a:r>
            <a:r>
              <a:rPr dirty="0" spc="65"/>
              <a:t> </a:t>
            </a:r>
            <a:r>
              <a:rPr dirty="0" spc="20"/>
              <a:t>more</a:t>
            </a:r>
            <a:r>
              <a:rPr dirty="0" spc="95"/>
              <a:t> </a:t>
            </a:r>
            <a:r>
              <a:rPr dirty="0" spc="55"/>
              <a:t>connected</a:t>
            </a:r>
            <a:r>
              <a:rPr dirty="0" spc="125"/>
              <a:t> </a:t>
            </a:r>
            <a:r>
              <a:rPr dirty="0" spc="-25"/>
              <a:t>and </a:t>
            </a:r>
            <a:r>
              <a:rPr dirty="0" spc="50"/>
              <a:t>engaged</a:t>
            </a:r>
            <a:r>
              <a:rPr dirty="0" spc="195"/>
              <a:t> </a:t>
            </a:r>
            <a:r>
              <a:rPr dirty="0" spc="10"/>
              <a:t>student</a:t>
            </a:r>
            <a:r>
              <a:rPr dirty="0" spc="155"/>
              <a:t> </a:t>
            </a:r>
            <a:r>
              <a:rPr dirty="0" spc="10"/>
              <a:t>community</a:t>
            </a:r>
            <a:r>
              <a:rPr dirty="0" spc="160"/>
              <a:t> </a:t>
            </a:r>
            <a:r>
              <a:rPr dirty="0" spc="65"/>
              <a:t>by</a:t>
            </a:r>
            <a:r>
              <a:rPr dirty="0" spc="135"/>
              <a:t> </a:t>
            </a:r>
            <a:r>
              <a:rPr dirty="0" spc="10"/>
              <a:t>simplifying</a:t>
            </a:r>
            <a:r>
              <a:rPr dirty="0" spc="195"/>
              <a:t> </a:t>
            </a:r>
            <a:r>
              <a:rPr dirty="0" spc="10"/>
              <a:t>event</a:t>
            </a:r>
            <a:r>
              <a:rPr dirty="0" spc="175"/>
              <a:t> </a:t>
            </a:r>
            <a:r>
              <a:rPr dirty="0" spc="10"/>
              <a:t>management</a:t>
            </a:r>
            <a:r>
              <a:rPr dirty="0" spc="195"/>
              <a:t> </a:t>
            </a:r>
            <a:r>
              <a:rPr dirty="0" spc="-25"/>
              <a:t>and </a:t>
            </a:r>
            <a:r>
              <a:rPr dirty="0" spc="-10"/>
              <a:t>participation.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1435" y="1924309"/>
            <a:ext cx="5374640" cy="37604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65" b="1">
                <a:latin typeface="Tahoma"/>
                <a:cs typeface="Tahoma"/>
              </a:rPr>
              <a:t>Literature</a:t>
            </a:r>
            <a:r>
              <a:rPr dirty="0" sz="1500" spc="-45" b="1">
                <a:latin typeface="Tahoma"/>
                <a:cs typeface="Tahoma"/>
              </a:rPr>
              <a:t> </a:t>
            </a:r>
            <a:r>
              <a:rPr dirty="0" sz="1500" spc="-35" b="1">
                <a:latin typeface="Tahoma"/>
                <a:cs typeface="Tahoma"/>
              </a:rPr>
              <a:t>Survey:</a:t>
            </a:r>
            <a:r>
              <a:rPr dirty="0" sz="1500" spc="-20" b="1">
                <a:latin typeface="Tahoma"/>
                <a:cs typeface="Tahoma"/>
              </a:rPr>
              <a:t> </a:t>
            </a:r>
            <a:r>
              <a:rPr dirty="0" sz="1500" spc="-50" b="1">
                <a:latin typeface="Tahoma"/>
                <a:cs typeface="Tahoma"/>
              </a:rPr>
              <a:t>Event</a:t>
            </a:r>
            <a:r>
              <a:rPr dirty="0" sz="1500" spc="-30" b="1">
                <a:latin typeface="Tahoma"/>
                <a:cs typeface="Tahoma"/>
              </a:rPr>
              <a:t> </a:t>
            </a:r>
            <a:r>
              <a:rPr dirty="0" sz="1500" spc="-50" b="1">
                <a:latin typeface="Tahoma"/>
                <a:cs typeface="Tahoma"/>
              </a:rPr>
              <a:t>Management</a:t>
            </a:r>
            <a:r>
              <a:rPr dirty="0" sz="1500" spc="-35" b="1">
                <a:latin typeface="Tahoma"/>
                <a:cs typeface="Tahoma"/>
              </a:rPr>
              <a:t> </a:t>
            </a:r>
            <a:r>
              <a:rPr dirty="0" sz="1500" spc="-10" b="1">
                <a:latin typeface="Tahoma"/>
                <a:cs typeface="Tahoma"/>
              </a:rPr>
              <a:t>Systems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550" spc="7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study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existing</a:t>
            </a:r>
            <a:r>
              <a:rPr dirty="0" sz="55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systems</a:t>
            </a:r>
            <a:r>
              <a:rPr dirty="0" sz="5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reveals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crucial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gaps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communication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coordination for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management.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5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</a:pPr>
            <a:r>
              <a:rPr dirty="0" sz="750" spc="-35" b="1">
                <a:solidFill>
                  <a:srgbClr val="262424"/>
                </a:solidFill>
                <a:latin typeface="Tahoma"/>
                <a:cs typeface="Tahoma"/>
              </a:rPr>
              <a:t>Traditional</a:t>
            </a:r>
            <a:r>
              <a:rPr dirty="0" sz="750" spc="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262424"/>
                </a:solidFill>
                <a:latin typeface="Tahoma"/>
                <a:cs typeface="Tahoma"/>
              </a:rPr>
              <a:t>Manual</a:t>
            </a:r>
            <a:r>
              <a:rPr dirty="0" sz="750" spc="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Systems</a:t>
            </a:r>
            <a:endParaRPr sz="7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  <a:spcBef>
                <a:spcPts val="284"/>
              </a:spcBef>
            </a:pP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Physical</a:t>
            </a:r>
            <a:r>
              <a:rPr dirty="0" sz="550" spc="-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posters,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notice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boards, and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word-of-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mouth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result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dirty="0" sz="5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low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participation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5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lack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centralised</a:t>
            </a:r>
            <a:r>
              <a:rPr dirty="0" sz="550" spc="-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archives.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5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</a:pPr>
            <a:r>
              <a:rPr dirty="0" sz="750" spc="-35" b="1">
                <a:solidFill>
                  <a:srgbClr val="262424"/>
                </a:solidFill>
                <a:latin typeface="Tahoma"/>
                <a:cs typeface="Tahoma"/>
              </a:rPr>
              <a:t>Existing</a:t>
            </a:r>
            <a:r>
              <a:rPr dirty="0" sz="750" spc="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40" b="1">
                <a:solidFill>
                  <a:srgbClr val="262424"/>
                </a:solidFill>
                <a:latin typeface="Tahoma"/>
                <a:cs typeface="Tahoma"/>
              </a:rPr>
              <a:t>Digital</a:t>
            </a:r>
            <a:r>
              <a:rPr dirty="0" sz="750" spc="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Portals</a:t>
            </a:r>
            <a:endParaRPr sz="7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  <a:spcBef>
                <a:spcPts val="285"/>
              </a:spcBef>
            </a:pP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Internal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5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ERPs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WhatsApp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groups</a:t>
            </a:r>
            <a:r>
              <a:rPr dirty="0" sz="55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create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"siloed"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information,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preventing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inter-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discovery.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5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</a:pP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Social</a:t>
            </a:r>
            <a:r>
              <a:rPr dirty="0" sz="750" spc="-2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20" b="1">
                <a:solidFill>
                  <a:srgbClr val="262424"/>
                </a:solidFill>
                <a:latin typeface="Tahoma"/>
                <a:cs typeface="Tahoma"/>
              </a:rPr>
              <a:t>Media</a:t>
            </a:r>
            <a:r>
              <a:rPr dirty="0" sz="750" spc="-2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Platforms</a:t>
            </a:r>
            <a:endParaRPr sz="7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  <a:spcBef>
                <a:spcPts val="285"/>
              </a:spcBef>
            </a:pP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Great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for reach but lack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structured 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registration,</a:t>
            </a:r>
            <a:r>
              <a:rPr dirty="0" sz="5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60">
                <a:solidFill>
                  <a:srgbClr val="262424"/>
                </a:solidFill>
                <a:latin typeface="Tahoma"/>
                <a:cs typeface="Tahoma"/>
              </a:rPr>
              <a:t>check-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ins,</a:t>
            </a:r>
            <a:r>
              <a:rPr dirty="0" sz="55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tracking, and formal certificate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generation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 academic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events.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5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</a:pPr>
            <a:r>
              <a:rPr dirty="0" sz="750" spc="-25" b="1">
                <a:solidFill>
                  <a:srgbClr val="262424"/>
                </a:solidFill>
                <a:latin typeface="Tahoma"/>
                <a:cs typeface="Tahoma"/>
              </a:rPr>
              <a:t>Commercial</a:t>
            </a: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 Platforms</a:t>
            </a:r>
            <a:endParaRPr sz="7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  <a:spcBef>
                <a:spcPts val="295"/>
              </a:spcBef>
            </a:pP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Generalised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features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ticketing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50">
                <a:solidFill>
                  <a:srgbClr val="262424"/>
                </a:solidFill>
                <a:latin typeface="Tahoma"/>
                <a:cs typeface="Tahoma"/>
              </a:rPr>
              <a:t>fees</a:t>
            </a:r>
            <a:r>
              <a:rPr dirty="0" sz="55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often</a:t>
            </a: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don't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suit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specific</a:t>
            </a:r>
            <a:r>
              <a:rPr dirty="0" sz="55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"college-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to-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college"</a:t>
            </a:r>
            <a:r>
              <a:rPr dirty="0" sz="55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synchronisation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needed.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Tahoma"/>
                <a:cs typeface="Tahoma"/>
              </a:rPr>
              <a:t>Closing</a:t>
            </a:r>
            <a:r>
              <a:rPr dirty="0" sz="850" spc="-30" b="1">
                <a:latin typeface="Tahoma"/>
                <a:cs typeface="Tahoma"/>
              </a:rPr>
              <a:t> </a:t>
            </a:r>
            <a:r>
              <a:rPr dirty="0" sz="850" b="1">
                <a:latin typeface="Tahoma"/>
                <a:cs typeface="Tahoma"/>
              </a:rPr>
              <a:t>the</a:t>
            </a:r>
            <a:r>
              <a:rPr dirty="0" sz="850" spc="-15" b="1">
                <a:latin typeface="Tahoma"/>
                <a:cs typeface="Tahoma"/>
              </a:rPr>
              <a:t> </a:t>
            </a:r>
            <a:r>
              <a:rPr dirty="0" sz="850" b="1">
                <a:latin typeface="Tahoma"/>
                <a:cs typeface="Tahoma"/>
              </a:rPr>
              <a:t>Gap</a:t>
            </a:r>
            <a:r>
              <a:rPr dirty="0" sz="850" spc="-10" b="1">
                <a:latin typeface="Tahoma"/>
                <a:cs typeface="Tahoma"/>
              </a:rPr>
              <a:t> </a:t>
            </a:r>
            <a:r>
              <a:rPr dirty="0" sz="850" spc="-30" b="1">
                <a:latin typeface="Tahoma"/>
                <a:cs typeface="Tahoma"/>
              </a:rPr>
              <a:t>with</a:t>
            </a:r>
            <a:r>
              <a:rPr dirty="0" sz="850" spc="-20" b="1">
                <a:latin typeface="Tahoma"/>
                <a:cs typeface="Tahoma"/>
              </a:rPr>
              <a:t> </a:t>
            </a:r>
            <a:r>
              <a:rPr dirty="0" sz="850" spc="-10" b="1">
                <a:latin typeface="Tahoma"/>
                <a:cs typeface="Tahoma"/>
              </a:rPr>
              <a:t>EventHub.com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</a:pP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Centralisation</a:t>
            </a:r>
            <a:endParaRPr sz="7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  <a:spcBef>
                <a:spcPts val="285"/>
              </a:spcBef>
            </a:pPr>
            <a:r>
              <a:rPr dirty="0" sz="550" spc="7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55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single-window</a:t>
            </a:r>
            <a:r>
              <a:rPr dirty="0" sz="550" spc="-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65">
                <a:solidFill>
                  <a:srgbClr val="262424"/>
                </a:solidFill>
                <a:latin typeface="Tahoma"/>
                <a:cs typeface="Tahoma"/>
              </a:rPr>
              <a:t>access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point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55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Bangalore's</a:t>
            </a:r>
            <a:r>
              <a:rPr dirty="0" sz="55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5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circuit.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5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  <a:spcBef>
                <a:spcPts val="5"/>
              </a:spcBef>
            </a:pP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endParaRPr sz="7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  <a:spcBef>
                <a:spcPts val="280"/>
              </a:spcBef>
            </a:pPr>
            <a:r>
              <a:rPr dirty="0" sz="550" spc="20">
                <a:solidFill>
                  <a:srgbClr val="262424"/>
                </a:solidFill>
                <a:latin typeface="Tahoma"/>
                <a:cs typeface="Tahoma"/>
              </a:rPr>
              <a:t>Digital registration,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5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codes,</a:t>
            </a:r>
            <a:r>
              <a:rPr dirty="0" sz="5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55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automated</a:t>
            </a:r>
            <a:r>
              <a:rPr dirty="0" sz="5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confirmations.</a:t>
            </a: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5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</a:pPr>
            <a:r>
              <a:rPr dirty="0" sz="750" spc="-10" b="1">
                <a:solidFill>
                  <a:srgbClr val="262424"/>
                </a:solidFill>
                <a:latin typeface="Tahoma"/>
                <a:cs typeface="Tahoma"/>
              </a:rPr>
              <a:t>Analytics</a:t>
            </a:r>
            <a:endParaRPr sz="750">
              <a:latin typeface="Tahoma"/>
              <a:cs typeface="Tahoma"/>
            </a:endParaRPr>
          </a:p>
          <a:p>
            <a:pPr marL="441959">
              <a:lnSpc>
                <a:spcPct val="100000"/>
              </a:lnSpc>
              <a:spcBef>
                <a:spcPts val="284"/>
              </a:spcBef>
            </a:pP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Organiser</a:t>
            </a:r>
            <a:r>
              <a:rPr dirty="0" sz="5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45">
                <a:solidFill>
                  <a:srgbClr val="262424"/>
                </a:solidFill>
                <a:latin typeface="Tahoma"/>
                <a:cs typeface="Tahoma"/>
              </a:rPr>
              <a:t>dashboards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5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55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55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3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5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550" spc="-10">
                <a:solidFill>
                  <a:srgbClr val="262424"/>
                </a:solidFill>
                <a:latin typeface="Tahoma"/>
                <a:cs typeface="Tahoma"/>
              </a:rPr>
              <a:t>insights.</a:t>
            </a:r>
            <a:endParaRPr sz="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3774948" cy="5658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8650" y="1439351"/>
            <a:ext cx="4105275" cy="146748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85"/>
              </a:spcBef>
            </a:pPr>
            <a:r>
              <a:rPr dirty="0" sz="2950" spc="-70"/>
              <a:t>Background:</a:t>
            </a:r>
            <a:r>
              <a:rPr dirty="0" sz="2950" spc="-110"/>
              <a:t> </a:t>
            </a:r>
            <a:r>
              <a:rPr dirty="0" sz="2950" spc="-25"/>
              <a:t>The </a:t>
            </a:r>
            <a:r>
              <a:rPr dirty="0" sz="2950" spc="-90"/>
              <a:t>Communication</a:t>
            </a:r>
            <a:r>
              <a:rPr dirty="0" sz="2950" spc="-75"/>
              <a:t> </a:t>
            </a:r>
            <a:r>
              <a:rPr dirty="0" sz="2950"/>
              <a:t>Gap</a:t>
            </a:r>
            <a:r>
              <a:rPr dirty="0" sz="2950" spc="-45"/>
              <a:t> </a:t>
            </a:r>
            <a:r>
              <a:rPr dirty="0" sz="2950" spc="-95"/>
              <a:t>in </a:t>
            </a:r>
            <a:r>
              <a:rPr dirty="0" sz="2950" spc="-10"/>
              <a:t>College</a:t>
            </a:r>
            <a:r>
              <a:rPr dirty="0" sz="2950" spc="-204"/>
              <a:t> </a:t>
            </a:r>
            <a:r>
              <a:rPr dirty="0" sz="2950" spc="-10"/>
              <a:t>Events</a:t>
            </a:r>
            <a:endParaRPr sz="2950"/>
          </a:p>
        </p:txBody>
      </p:sp>
      <p:sp>
        <p:nvSpPr>
          <p:cNvPr id="4" name="object 4" descr=""/>
          <p:cNvSpPr txBox="1"/>
          <p:nvPr/>
        </p:nvSpPr>
        <p:spPr>
          <a:xfrm>
            <a:off x="4298725" y="3289791"/>
            <a:ext cx="131762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b="1">
                <a:latin typeface="Tahoma"/>
                <a:cs typeface="Tahoma"/>
              </a:rPr>
              <a:t>The</a:t>
            </a:r>
            <a:r>
              <a:rPr dirty="0" sz="1450" spc="-10" b="1">
                <a:latin typeface="Tahoma"/>
                <a:cs typeface="Tahoma"/>
              </a:rPr>
              <a:t> Challenge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98691" y="3660041"/>
            <a:ext cx="2285365" cy="2474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5"/>
              </a:spcBef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Students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1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Bangalore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colleges</a:t>
            </a:r>
            <a:r>
              <a:rPr dirty="0" sz="1200" spc="20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frequently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miss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significant</a:t>
            </a:r>
            <a:r>
              <a:rPr dirty="0" sz="1200" spc="4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inter-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college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hackathons,</a:t>
            </a:r>
            <a:r>
              <a:rPr dirty="0" sz="1200" spc="2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cultural</a:t>
            </a:r>
            <a:r>
              <a:rPr dirty="0" sz="1200" spc="2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festivals,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sports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competitions.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Event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information</a:t>
            </a:r>
            <a:r>
              <a:rPr dirty="0" sz="1200" spc="2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remains</a:t>
            </a:r>
            <a:r>
              <a:rPr dirty="0" sz="1200" spc="2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scattered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isolated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internal</a:t>
            </a:r>
            <a:r>
              <a:rPr dirty="0" sz="1200" spc="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portals,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creating</a:t>
            </a:r>
            <a:r>
              <a:rPr dirty="0" sz="1200" spc="2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</a:t>
            </a:r>
            <a:r>
              <a:rPr dirty="0" sz="1200" spc="20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information</a:t>
            </a:r>
            <a:r>
              <a:rPr dirty="0" sz="1200" spc="2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silo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effect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that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limits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participation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engagement.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96771" y="3289791"/>
            <a:ext cx="102806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b="1">
                <a:latin typeface="Tahoma"/>
                <a:cs typeface="Tahoma"/>
              </a:rPr>
              <a:t>The</a:t>
            </a:r>
            <a:r>
              <a:rPr dirty="0" sz="1450" spc="-10" b="1">
                <a:latin typeface="Tahoma"/>
                <a:cs typeface="Tahoma"/>
              </a:rPr>
              <a:t> </a:t>
            </a:r>
            <a:r>
              <a:rPr dirty="0" sz="1450" spc="-70" b="1">
                <a:latin typeface="Tahoma"/>
                <a:cs typeface="Tahoma"/>
              </a:rPr>
              <a:t>Impact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96708" y="3660041"/>
            <a:ext cx="2308225" cy="1740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5"/>
              </a:spcBef>
            </a:pP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Without</a:t>
            </a:r>
            <a:r>
              <a:rPr dirty="0" sz="1200" spc="22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centralised</a:t>
            </a:r>
            <a:r>
              <a:rPr dirty="0" sz="1200" spc="2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visibility,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talented</a:t>
            </a:r>
            <a:r>
              <a:rPr dirty="0" sz="1200" spc="2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students</a:t>
            </a:r>
            <a:r>
              <a:rPr dirty="0" sz="1200" spc="2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lose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opportunities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showcase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their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skills,</a:t>
            </a:r>
            <a:r>
              <a:rPr dirty="0" sz="1200" spc="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network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peers</a:t>
            </a:r>
            <a:r>
              <a:rPr dirty="0" sz="1200" spc="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from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other</a:t>
            </a:r>
            <a:r>
              <a:rPr dirty="0" sz="1200" spc="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institutions,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enrich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their</a:t>
            </a:r>
            <a:r>
              <a:rPr dirty="0" sz="1200" spc="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collegiate</a:t>
            </a:r>
            <a:r>
              <a:rPr dirty="0" sz="1200" spc="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experience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dirty="0" sz="12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diverse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events.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9556" y="6290310"/>
            <a:ext cx="1356527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278879"/>
            <a:ext cx="1225296" cy="424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98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95"/>
              <a:t>Methodology:</a:t>
            </a:r>
            <a:r>
              <a:rPr dirty="0" spc="-35"/>
              <a:t> </a:t>
            </a:r>
            <a:r>
              <a:rPr dirty="0" spc="-125"/>
              <a:t>Solution</a:t>
            </a:r>
            <a:r>
              <a:rPr dirty="0" spc="-50"/>
              <a:t> </a:t>
            </a:r>
            <a:r>
              <a:rPr dirty="0" spc="-25"/>
              <a:t>Approach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34390" y="2765511"/>
            <a:ext cx="8694420" cy="53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2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address</a:t>
            </a:r>
            <a:r>
              <a:rPr dirty="0" sz="12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fragmented</a:t>
            </a:r>
            <a:r>
              <a:rPr dirty="0" sz="12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communication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identified,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we</a:t>
            </a: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implement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three-pillared</a:t>
            </a: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methodology</a:t>
            </a:r>
            <a:r>
              <a:rPr dirty="0" sz="12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designed</a:t>
            </a:r>
            <a:r>
              <a:rPr dirty="0" sz="12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unify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the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ecosystem: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44829" y="3481578"/>
            <a:ext cx="2889885" cy="2286000"/>
            <a:chOff x="544829" y="3481578"/>
            <a:chExt cx="2889885" cy="2286000"/>
          </a:xfrm>
        </p:grpSpPr>
        <p:sp>
          <p:nvSpPr>
            <p:cNvPr id="6" name="object 6" descr=""/>
            <p:cNvSpPr/>
            <p:nvPr/>
          </p:nvSpPr>
          <p:spPr>
            <a:xfrm>
              <a:off x="547115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2819400" y="2281427"/>
                  </a:moveTo>
                  <a:lnTo>
                    <a:pt x="65532" y="2281427"/>
                  </a:lnTo>
                  <a:lnTo>
                    <a:pt x="39862" y="2276117"/>
                  </a:lnTo>
                  <a:lnTo>
                    <a:pt x="19049" y="2261806"/>
                  </a:lnTo>
                  <a:lnTo>
                    <a:pt x="5095" y="2240922"/>
                  </a:lnTo>
                  <a:lnTo>
                    <a:pt x="0" y="2215895"/>
                  </a:lnTo>
                  <a:lnTo>
                    <a:pt x="0" y="65532"/>
                  </a:lnTo>
                  <a:lnTo>
                    <a:pt x="5095" y="39862"/>
                  </a:lnTo>
                  <a:lnTo>
                    <a:pt x="19050" y="19050"/>
                  </a:lnTo>
                  <a:lnTo>
                    <a:pt x="39862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4426" y="5095"/>
                  </a:lnTo>
                  <a:lnTo>
                    <a:pt x="2865310" y="19050"/>
                  </a:lnTo>
                  <a:lnTo>
                    <a:pt x="2879621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621" y="2240922"/>
                  </a:lnTo>
                  <a:lnTo>
                    <a:pt x="2865310" y="2261806"/>
                  </a:lnTo>
                  <a:lnTo>
                    <a:pt x="2844426" y="2276117"/>
                  </a:lnTo>
                  <a:lnTo>
                    <a:pt x="2819400" y="228142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7115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0" y="65532"/>
                  </a:moveTo>
                  <a:lnTo>
                    <a:pt x="5095" y="39862"/>
                  </a:lnTo>
                  <a:lnTo>
                    <a:pt x="19050" y="19050"/>
                  </a:lnTo>
                  <a:lnTo>
                    <a:pt x="39862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4426" y="5095"/>
                  </a:lnTo>
                  <a:lnTo>
                    <a:pt x="2865310" y="19050"/>
                  </a:lnTo>
                  <a:lnTo>
                    <a:pt x="2879621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621" y="2240922"/>
                  </a:lnTo>
                  <a:lnTo>
                    <a:pt x="2865310" y="2261806"/>
                  </a:lnTo>
                  <a:lnTo>
                    <a:pt x="2844426" y="2276117"/>
                  </a:lnTo>
                  <a:lnTo>
                    <a:pt x="2819400" y="2281427"/>
                  </a:lnTo>
                  <a:lnTo>
                    <a:pt x="65532" y="2281427"/>
                  </a:lnTo>
                  <a:lnTo>
                    <a:pt x="39862" y="2276117"/>
                  </a:lnTo>
                  <a:lnTo>
                    <a:pt x="19049" y="2261806"/>
                  </a:lnTo>
                  <a:lnTo>
                    <a:pt x="5095" y="2240922"/>
                  </a:lnTo>
                  <a:lnTo>
                    <a:pt x="0" y="2215895"/>
                  </a:lnTo>
                  <a:lnTo>
                    <a:pt x="0" y="65532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135" y="364388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4" h="467995">
                  <a:moveTo>
                    <a:pt x="234695" y="467868"/>
                  </a:moveTo>
                  <a:lnTo>
                    <a:pt x="187419" y="463162"/>
                  </a:lnTo>
                  <a:lnTo>
                    <a:pt x="143375" y="449651"/>
                  </a:lnTo>
                  <a:lnTo>
                    <a:pt x="103509" y="428246"/>
                  </a:lnTo>
                  <a:lnTo>
                    <a:pt x="68770" y="399859"/>
                  </a:lnTo>
                  <a:lnTo>
                    <a:pt x="40103" y="365399"/>
                  </a:lnTo>
                  <a:lnTo>
                    <a:pt x="18454" y="325778"/>
                  </a:lnTo>
                  <a:lnTo>
                    <a:pt x="4771" y="281907"/>
                  </a:lnTo>
                  <a:lnTo>
                    <a:pt x="0" y="234695"/>
                  </a:lnTo>
                  <a:lnTo>
                    <a:pt x="4771" y="187419"/>
                  </a:lnTo>
                  <a:lnTo>
                    <a:pt x="18454" y="143375"/>
                  </a:lnTo>
                  <a:lnTo>
                    <a:pt x="40103" y="103509"/>
                  </a:lnTo>
                  <a:lnTo>
                    <a:pt x="68770" y="68770"/>
                  </a:lnTo>
                  <a:lnTo>
                    <a:pt x="103509" y="40103"/>
                  </a:lnTo>
                  <a:lnTo>
                    <a:pt x="143375" y="18454"/>
                  </a:lnTo>
                  <a:lnTo>
                    <a:pt x="187419" y="4771"/>
                  </a:lnTo>
                  <a:lnTo>
                    <a:pt x="234695" y="0"/>
                  </a:lnTo>
                  <a:lnTo>
                    <a:pt x="281907" y="4771"/>
                  </a:lnTo>
                  <a:lnTo>
                    <a:pt x="325778" y="18454"/>
                  </a:lnTo>
                  <a:lnTo>
                    <a:pt x="365399" y="40103"/>
                  </a:lnTo>
                  <a:lnTo>
                    <a:pt x="399859" y="68770"/>
                  </a:lnTo>
                  <a:lnTo>
                    <a:pt x="428246" y="103509"/>
                  </a:lnTo>
                  <a:lnTo>
                    <a:pt x="449651" y="143375"/>
                  </a:lnTo>
                  <a:lnTo>
                    <a:pt x="463162" y="187419"/>
                  </a:lnTo>
                  <a:lnTo>
                    <a:pt x="467868" y="234695"/>
                  </a:lnTo>
                  <a:lnTo>
                    <a:pt x="463162" y="281907"/>
                  </a:lnTo>
                  <a:lnTo>
                    <a:pt x="449651" y="325778"/>
                  </a:lnTo>
                  <a:lnTo>
                    <a:pt x="428246" y="365399"/>
                  </a:lnTo>
                  <a:lnTo>
                    <a:pt x="399859" y="399859"/>
                  </a:lnTo>
                  <a:lnTo>
                    <a:pt x="365399" y="428246"/>
                  </a:lnTo>
                  <a:lnTo>
                    <a:pt x="325778" y="449651"/>
                  </a:lnTo>
                  <a:lnTo>
                    <a:pt x="281907" y="463162"/>
                  </a:lnTo>
                  <a:lnTo>
                    <a:pt x="234695" y="467868"/>
                  </a:lnTo>
                  <a:close/>
                </a:path>
              </a:pathLst>
            </a:custGeom>
            <a:solidFill>
              <a:srgbClr val="4950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3768852"/>
              <a:ext cx="219456" cy="219456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695943" y="4246864"/>
            <a:ext cx="2435225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40" b="1">
                <a:solidFill>
                  <a:srgbClr val="262424"/>
                </a:solidFill>
                <a:latin typeface="Tahoma"/>
                <a:cs typeface="Tahoma"/>
              </a:rPr>
              <a:t>Centralised</a:t>
            </a:r>
            <a:r>
              <a:rPr dirty="0" sz="1500" spc="-1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Discovery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600"/>
              </a:lnSpc>
              <a:spcBef>
                <a:spcPts val="655"/>
              </a:spcBef>
            </a:pP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Establishing</a:t>
            </a:r>
            <a:r>
              <a:rPr dirty="0" sz="1200" spc="2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single-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window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portal</a:t>
            </a:r>
            <a:r>
              <a:rPr dirty="0" sz="12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that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aggregates</a:t>
            </a:r>
            <a:r>
              <a:rPr dirty="0" sz="1200" spc="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data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all</a:t>
            </a:r>
            <a:r>
              <a:rPr dirty="0" sz="12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Bangalore</a:t>
            </a:r>
            <a:r>
              <a:rPr dirty="0" sz="1200" spc="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colleges</a:t>
            </a:r>
            <a:r>
              <a:rPr dirty="0" sz="1200" spc="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eliminate</a:t>
            </a:r>
            <a:r>
              <a:rPr dirty="0" sz="1200" spc="22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silos.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85210" y="3481578"/>
            <a:ext cx="2889885" cy="2286000"/>
            <a:chOff x="3585210" y="3481578"/>
            <a:chExt cx="2889885" cy="2286000"/>
          </a:xfrm>
        </p:grpSpPr>
        <p:sp>
          <p:nvSpPr>
            <p:cNvPr id="12" name="object 12" descr=""/>
            <p:cNvSpPr/>
            <p:nvPr/>
          </p:nvSpPr>
          <p:spPr>
            <a:xfrm>
              <a:off x="3587496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2819400" y="2281427"/>
                  </a:moveTo>
                  <a:lnTo>
                    <a:pt x="65532" y="2281427"/>
                  </a:lnTo>
                  <a:lnTo>
                    <a:pt x="39862" y="2276117"/>
                  </a:lnTo>
                  <a:lnTo>
                    <a:pt x="19049" y="2261806"/>
                  </a:lnTo>
                  <a:lnTo>
                    <a:pt x="5095" y="2240922"/>
                  </a:lnTo>
                  <a:lnTo>
                    <a:pt x="0" y="2215895"/>
                  </a:lnTo>
                  <a:lnTo>
                    <a:pt x="0" y="65532"/>
                  </a:lnTo>
                  <a:lnTo>
                    <a:pt x="5095" y="39862"/>
                  </a:lnTo>
                  <a:lnTo>
                    <a:pt x="19050" y="19050"/>
                  </a:lnTo>
                  <a:lnTo>
                    <a:pt x="39862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5069" y="5095"/>
                  </a:lnTo>
                  <a:lnTo>
                    <a:pt x="2865882" y="19050"/>
                  </a:lnTo>
                  <a:lnTo>
                    <a:pt x="2879836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836" y="2240922"/>
                  </a:lnTo>
                  <a:lnTo>
                    <a:pt x="2865882" y="2261806"/>
                  </a:lnTo>
                  <a:lnTo>
                    <a:pt x="2845069" y="2276117"/>
                  </a:lnTo>
                  <a:lnTo>
                    <a:pt x="2819400" y="228142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87496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0" y="65532"/>
                  </a:moveTo>
                  <a:lnTo>
                    <a:pt x="5095" y="39862"/>
                  </a:lnTo>
                  <a:lnTo>
                    <a:pt x="19050" y="19050"/>
                  </a:lnTo>
                  <a:lnTo>
                    <a:pt x="39862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5069" y="5095"/>
                  </a:lnTo>
                  <a:lnTo>
                    <a:pt x="2865882" y="19050"/>
                  </a:lnTo>
                  <a:lnTo>
                    <a:pt x="2879836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836" y="2240922"/>
                  </a:lnTo>
                  <a:lnTo>
                    <a:pt x="2865882" y="2261806"/>
                  </a:lnTo>
                  <a:lnTo>
                    <a:pt x="2845069" y="2276117"/>
                  </a:lnTo>
                  <a:lnTo>
                    <a:pt x="2819400" y="2281427"/>
                  </a:lnTo>
                  <a:lnTo>
                    <a:pt x="65532" y="2281427"/>
                  </a:lnTo>
                  <a:lnTo>
                    <a:pt x="39862" y="2276117"/>
                  </a:lnTo>
                  <a:lnTo>
                    <a:pt x="19049" y="2261806"/>
                  </a:lnTo>
                  <a:lnTo>
                    <a:pt x="5095" y="2240922"/>
                  </a:lnTo>
                  <a:lnTo>
                    <a:pt x="0" y="2215895"/>
                  </a:lnTo>
                  <a:lnTo>
                    <a:pt x="0" y="65532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49040" y="364388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233172" y="467868"/>
                  </a:moveTo>
                  <a:lnTo>
                    <a:pt x="185960" y="463162"/>
                  </a:lnTo>
                  <a:lnTo>
                    <a:pt x="142089" y="449651"/>
                  </a:lnTo>
                  <a:lnTo>
                    <a:pt x="102468" y="428246"/>
                  </a:lnTo>
                  <a:lnTo>
                    <a:pt x="68008" y="399859"/>
                  </a:lnTo>
                  <a:lnTo>
                    <a:pt x="39621" y="365399"/>
                  </a:lnTo>
                  <a:lnTo>
                    <a:pt x="18216" y="325778"/>
                  </a:lnTo>
                  <a:lnTo>
                    <a:pt x="4705" y="281907"/>
                  </a:lnTo>
                  <a:lnTo>
                    <a:pt x="0" y="234695"/>
                  </a:lnTo>
                  <a:lnTo>
                    <a:pt x="4705" y="187419"/>
                  </a:lnTo>
                  <a:lnTo>
                    <a:pt x="18216" y="143375"/>
                  </a:lnTo>
                  <a:lnTo>
                    <a:pt x="39621" y="103509"/>
                  </a:lnTo>
                  <a:lnTo>
                    <a:pt x="68008" y="68770"/>
                  </a:lnTo>
                  <a:lnTo>
                    <a:pt x="102468" y="40103"/>
                  </a:lnTo>
                  <a:lnTo>
                    <a:pt x="142089" y="18454"/>
                  </a:lnTo>
                  <a:lnTo>
                    <a:pt x="185960" y="4771"/>
                  </a:lnTo>
                  <a:lnTo>
                    <a:pt x="233172" y="0"/>
                  </a:lnTo>
                  <a:lnTo>
                    <a:pt x="280448" y="4771"/>
                  </a:lnTo>
                  <a:lnTo>
                    <a:pt x="324492" y="18454"/>
                  </a:lnTo>
                  <a:lnTo>
                    <a:pt x="364358" y="40103"/>
                  </a:lnTo>
                  <a:lnTo>
                    <a:pt x="399097" y="68770"/>
                  </a:lnTo>
                  <a:lnTo>
                    <a:pt x="427764" y="103509"/>
                  </a:lnTo>
                  <a:lnTo>
                    <a:pt x="449413" y="143375"/>
                  </a:lnTo>
                  <a:lnTo>
                    <a:pt x="463096" y="187419"/>
                  </a:lnTo>
                  <a:lnTo>
                    <a:pt x="467868" y="234695"/>
                  </a:lnTo>
                  <a:lnTo>
                    <a:pt x="463096" y="281907"/>
                  </a:lnTo>
                  <a:lnTo>
                    <a:pt x="449413" y="325778"/>
                  </a:lnTo>
                  <a:lnTo>
                    <a:pt x="427764" y="365399"/>
                  </a:lnTo>
                  <a:lnTo>
                    <a:pt x="399097" y="399859"/>
                  </a:lnTo>
                  <a:lnTo>
                    <a:pt x="364358" y="428246"/>
                  </a:lnTo>
                  <a:lnTo>
                    <a:pt x="324492" y="449651"/>
                  </a:lnTo>
                  <a:lnTo>
                    <a:pt x="280448" y="463162"/>
                  </a:lnTo>
                  <a:lnTo>
                    <a:pt x="233172" y="467868"/>
                  </a:lnTo>
                  <a:close/>
                </a:path>
              </a:pathLst>
            </a:custGeom>
            <a:solidFill>
              <a:srgbClr val="4950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0960" y="3768852"/>
              <a:ext cx="219456" cy="219456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3736335" y="4246864"/>
            <a:ext cx="2450465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20" b="1">
                <a:solidFill>
                  <a:srgbClr val="262424"/>
                </a:solidFill>
                <a:latin typeface="Tahoma"/>
                <a:cs typeface="Tahoma"/>
              </a:rPr>
              <a:t>Seamless</a:t>
            </a:r>
            <a:r>
              <a:rPr dirty="0" sz="1500" spc="-7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600"/>
              </a:lnSpc>
              <a:spcBef>
                <a:spcPts val="655"/>
              </a:spcBef>
            </a:pP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Standardising</a:t>
            </a:r>
            <a:r>
              <a:rPr dirty="0" sz="1200" spc="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journey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dirty="0" sz="1200" spc="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200" spc="1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unified</a:t>
            </a:r>
            <a:r>
              <a:rPr dirty="0" sz="1200" spc="2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interface</a:t>
            </a:r>
            <a:r>
              <a:rPr dirty="0" sz="1200" spc="2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for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discovery,</a:t>
            </a:r>
            <a:r>
              <a:rPr dirty="0" sz="1200" spc="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registration,</a:t>
            </a:r>
            <a:r>
              <a:rPr dirty="0" sz="1200" spc="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attendance</a:t>
            </a:r>
            <a:r>
              <a:rPr dirty="0" sz="1200" spc="3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tracking.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625590" y="3481578"/>
            <a:ext cx="2889885" cy="2286000"/>
            <a:chOff x="6625590" y="3481578"/>
            <a:chExt cx="2889885" cy="2286000"/>
          </a:xfrm>
        </p:grpSpPr>
        <p:sp>
          <p:nvSpPr>
            <p:cNvPr id="18" name="object 18" descr=""/>
            <p:cNvSpPr/>
            <p:nvPr/>
          </p:nvSpPr>
          <p:spPr>
            <a:xfrm>
              <a:off x="6627876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2819400" y="2281427"/>
                  </a:moveTo>
                  <a:lnTo>
                    <a:pt x="65532" y="2281427"/>
                  </a:lnTo>
                  <a:lnTo>
                    <a:pt x="40505" y="2276117"/>
                  </a:lnTo>
                  <a:lnTo>
                    <a:pt x="19621" y="2261806"/>
                  </a:lnTo>
                  <a:lnTo>
                    <a:pt x="5310" y="2240922"/>
                  </a:lnTo>
                  <a:lnTo>
                    <a:pt x="0" y="2215895"/>
                  </a:lnTo>
                  <a:lnTo>
                    <a:pt x="0" y="65532"/>
                  </a:lnTo>
                  <a:lnTo>
                    <a:pt x="5310" y="39862"/>
                  </a:lnTo>
                  <a:lnTo>
                    <a:pt x="19621" y="19050"/>
                  </a:lnTo>
                  <a:lnTo>
                    <a:pt x="40505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5069" y="5095"/>
                  </a:lnTo>
                  <a:lnTo>
                    <a:pt x="2865882" y="19050"/>
                  </a:lnTo>
                  <a:lnTo>
                    <a:pt x="2879836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836" y="2240922"/>
                  </a:lnTo>
                  <a:lnTo>
                    <a:pt x="2865882" y="2261806"/>
                  </a:lnTo>
                  <a:lnTo>
                    <a:pt x="2845069" y="2276117"/>
                  </a:lnTo>
                  <a:lnTo>
                    <a:pt x="2819400" y="228142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627876" y="3483864"/>
              <a:ext cx="2885440" cy="2281555"/>
            </a:xfrm>
            <a:custGeom>
              <a:avLst/>
              <a:gdLst/>
              <a:ahLst/>
              <a:cxnLst/>
              <a:rect l="l" t="t" r="r" b="b"/>
              <a:pathLst>
                <a:path w="2885440" h="2281554">
                  <a:moveTo>
                    <a:pt x="0" y="65532"/>
                  </a:moveTo>
                  <a:lnTo>
                    <a:pt x="5310" y="39862"/>
                  </a:lnTo>
                  <a:lnTo>
                    <a:pt x="19621" y="19050"/>
                  </a:lnTo>
                  <a:lnTo>
                    <a:pt x="40505" y="5095"/>
                  </a:lnTo>
                  <a:lnTo>
                    <a:pt x="65532" y="0"/>
                  </a:lnTo>
                  <a:lnTo>
                    <a:pt x="2819400" y="0"/>
                  </a:lnTo>
                  <a:lnTo>
                    <a:pt x="2845069" y="5095"/>
                  </a:lnTo>
                  <a:lnTo>
                    <a:pt x="2865882" y="19050"/>
                  </a:lnTo>
                  <a:lnTo>
                    <a:pt x="2879836" y="39862"/>
                  </a:lnTo>
                  <a:lnTo>
                    <a:pt x="2884932" y="65532"/>
                  </a:lnTo>
                  <a:lnTo>
                    <a:pt x="2884932" y="2215895"/>
                  </a:lnTo>
                  <a:lnTo>
                    <a:pt x="2879836" y="2240922"/>
                  </a:lnTo>
                  <a:lnTo>
                    <a:pt x="2865882" y="2261806"/>
                  </a:lnTo>
                  <a:lnTo>
                    <a:pt x="2845069" y="2276117"/>
                  </a:lnTo>
                  <a:lnTo>
                    <a:pt x="2819400" y="2281427"/>
                  </a:lnTo>
                  <a:lnTo>
                    <a:pt x="65532" y="2281427"/>
                  </a:lnTo>
                  <a:lnTo>
                    <a:pt x="40505" y="2276117"/>
                  </a:lnTo>
                  <a:lnTo>
                    <a:pt x="19621" y="2261806"/>
                  </a:lnTo>
                  <a:lnTo>
                    <a:pt x="5310" y="2240922"/>
                  </a:lnTo>
                  <a:lnTo>
                    <a:pt x="0" y="2215895"/>
                  </a:lnTo>
                  <a:lnTo>
                    <a:pt x="0" y="65532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789419" y="3643884"/>
              <a:ext cx="467995" cy="467995"/>
            </a:xfrm>
            <a:custGeom>
              <a:avLst/>
              <a:gdLst/>
              <a:ahLst/>
              <a:cxnLst/>
              <a:rect l="l" t="t" r="r" b="b"/>
              <a:pathLst>
                <a:path w="467995" h="467995">
                  <a:moveTo>
                    <a:pt x="234695" y="467868"/>
                  </a:moveTo>
                  <a:lnTo>
                    <a:pt x="187419" y="463162"/>
                  </a:lnTo>
                  <a:lnTo>
                    <a:pt x="143375" y="449651"/>
                  </a:lnTo>
                  <a:lnTo>
                    <a:pt x="103509" y="428246"/>
                  </a:lnTo>
                  <a:lnTo>
                    <a:pt x="68770" y="399859"/>
                  </a:lnTo>
                  <a:lnTo>
                    <a:pt x="40103" y="365399"/>
                  </a:lnTo>
                  <a:lnTo>
                    <a:pt x="18454" y="325778"/>
                  </a:lnTo>
                  <a:lnTo>
                    <a:pt x="4771" y="281907"/>
                  </a:lnTo>
                  <a:lnTo>
                    <a:pt x="0" y="234695"/>
                  </a:lnTo>
                  <a:lnTo>
                    <a:pt x="4771" y="187419"/>
                  </a:lnTo>
                  <a:lnTo>
                    <a:pt x="18454" y="143375"/>
                  </a:lnTo>
                  <a:lnTo>
                    <a:pt x="40103" y="103509"/>
                  </a:lnTo>
                  <a:lnTo>
                    <a:pt x="68770" y="68770"/>
                  </a:lnTo>
                  <a:lnTo>
                    <a:pt x="103509" y="40103"/>
                  </a:lnTo>
                  <a:lnTo>
                    <a:pt x="143375" y="18454"/>
                  </a:lnTo>
                  <a:lnTo>
                    <a:pt x="187419" y="4771"/>
                  </a:lnTo>
                  <a:lnTo>
                    <a:pt x="234695" y="0"/>
                  </a:lnTo>
                  <a:lnTo>
                    <a:pt x="281469" y="4771"/>
                  </a:lnTo>
                  <a:lnTo>
                    <a:pt x="325135" y="18454"/>
                  </a:lnTo>
                  <a:lnTo>
                    <a:pt x="364730" y="40103"/>
                  </a:lnTo>
                  <a:lnTo>
                    <a:pt x="399288" y="68770"/>
                  </a:lnTo>
                  <a:lnTo>
                    <a:pt x="427845" y="103509"/>
                  </a:lnTo>
                  <a:lnTo>
                    <a:pt x="449437" y="143375"/>
                  </a:lnTo>
                  <a:lnTo>
                    <a:pt x="463099" y="187419"/>
                  </a:lnTo>
                  <a:lnTo>
                    <a:pt x="467868" y="234695"/>
                  </a:lnTo>
                  <a:lnTo>
                    <a:pt x="463099" y="281907"/>
                  </a:lnTo>
                  <a:lnTo>
                    <a:pt x="449437" y="325778"/>
                  </a:lnTo>
                  <a:lnTo>
                    <a:pt x="427845" y="365399"/>
                  </a:lnTo>
                  <a:lnTo>
                    <a:pt x="399288" y="399859"/>
                  </a:lnTo>
                  <a:lnTo>
                    <a:pt x="364730" y="428246"/>
                  </a:lnTo>
                  <a:lnTo>
                    <a:pt x="325135" y="449651"/>
                  </a:lnTo>
                  <a:lnTo>
                    <a:pt x="281469" y="463162"/>
                  </a:lnTo>
                  <a:lnTo>
                    <a:pt x="234695" y="467868"/>
                  </a:lnTo>
                  <a:close/>
                </a:path>
              </a:pathLst>
            </a:custGeom>
            <a:solidFill>
              <a:srgbClr val="4950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2863" y="3768852"/>
              <a:ext cx="219455" cy="219456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6778217" y="4246864"/>
            <a:ext cx="2499360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5" b="1">
                <a:solidFill>
                  <a:srgbClr val="262424"/>
                </a:solidFill>
                <a:latin typeface="Tahoma"/>
                <a:cs typeface="Tahoma"/>
              </a:rPr>
              <a:t>Community</a:t>
            </a:r>
            <a:r>
              <a:rPr dirty="0" sz="1500" spc="-4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Building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600"/>
              </a:lnSpc>
              <a:spcBef>
                <a:spcPts val="655"/>
              </a:spcBef>
            </a:pP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Creating</a:t>
            </a:r>
            <a:r>
              <a:rPr dirty="0" sz="1200" spc="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collaborative</a:t>
            </a:r>
            <a:r>
              <a:rPr dirty="0" sz="1200" spc="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network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that</a:t>
            </a:r>
            <a:r>
              <a:rPr dirty="0" sz="12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facilitates</a:t>
            </a:r>
            <a:r>
              <a:rPr dirty="0" sz="1200" spc="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direct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interaction 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between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organisers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the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student</a:t>
            </a:r>
            <a:r>
              <a:rPr dirty="0" sz="120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body</a:t>
            </a:r>
            <a:r>
              <a:rPr dirty="0" sz="12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institutions.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7954" y="6310884"/>
            <a:ext cx="2018803" cy="3505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978" y="1660643"/>
            <a:ext cx="7447915" cy="4133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65"/>
              <a:t>Design</a:t>
            </a:r>
            <a:r>
              <a:rPr dirty="0" sz="2550" spc="-50"/>
              <a:t> </a:t>
            </a:r>
            <a:r>
              <a:rPr dirty="0" sz="2550" spc="-360"/>
              <a:t>&amp;</a:t>
            </a:r>
            <a:r>
              <a:rPr dirty="0" sz="2550"/>
              <a:t> </a:t>
            </a:r>
            <a:r>
              <a:rPr dirty="0" sz="2550" spc="-95"/>
              <a:t>Architecture:</a:t>
            </a:r>
            <a:r>
              <a:rPr dirty="0" sz="2550" spc="-45"/>
              <a:t> </a:t>
            </a:r>
            <a:r>
              <a:rPr dirty="0" sz="2550" spc="-175"/>
              <a:t>Implementation</a:t>
            </a:r>
            <a:r>
              <a:rPr dirty="0" sz="2550" spc="-50"/>
              <a:t> </a:t>
            </a:r>
            <a:r>
              <a:rPr dirty="0" sz="2550" spc="-60"/>
              <a:t>Roadmap</a:t>
            </a:r>
            <a:endParaRPr sz="2550"/>
          </a:p>
        </p:txBody>
      </p:sp>
      <p:grpSp>
        <p:nvGrpSpPr>
          <p:cNvPr id="4" name="object 4" descr=""/>
          <p:cNvGrpSpPr/>
          <p:nvPr/>
        </p:nvGrpSpPr>
        <p:grpSpPr>
          <a:xfrm>
            <a:off x="4511040" y="2312416"/>
            <a:ext cx="667385" cy="3768725"/>
            <a:chOff x="4511040" y="2312416"/>
            <a:chExt cx="667385" cy="3768725"/>
          </a:xfrm>
        </p:grpSpPr>
        <p:sp>
          <p:nvSpPr>
            <p:cNvPr id="5" name="object 5" descr=""/>
            <p:cNvSpPr/>
            <p:nvPr/>
          </p:nvSpPr>
          <p:spPr>
            <a:xfrm>
              <a:off x="4511040" y="2314955"/>
              <a:ext cx="527685" cy="3766185"/>
            </a:xfrm>
            <a:custGeom>
              <a:avLst/>
              <a:gdLst/>
              <a:ahLst/>
              <a:cxnLst/>
              <a:rect l="l" t="t" r="r" b="b"/>
              <a:pathLst>
                <a:path w="527685" h="3766185">
                  <a:moveTo>
                    <a:pt x="388620" y="141732"/>
                  </a:moveTo>
                  <a:lnTo>
                    <a:pt x="385572" y="138684"/>
                  </a:lnTo>
                  <a:lnTo>
                    <a:pt x="3048" y="138684"/>
                  </a:lnTo>
                  <a:lnTo>
                    <a:pt x="0" y="141732"/>
                  </a:lnTo>
                  <a:lnTo>
                    <a:pt x="0" y="146304"/>
                  </a:lnTo>
                  <a:lnTo>
                    <a:pt x="0" y="150876"/>
                  </a:lnTo>
                  <a:lnTo>
                    <a:pt x="3048" y="153924"/>
                  </a:lnTo>
                  <a:lnTo>
                    <a:pt x="385572" y="153924"/>
                  </a:lnTo>
                  <a:lnTo>
                    <a:pt x="388620" y="150876"/>
                  </a:lnTo>
                  <a:lnTo>
                    <a:pt x="388620" y="141732"/>
                  </a:lnTo>
                  <a:close/>
                </a:path>
                <a:path w="527685" h="3766185">
                  <a:moveTo>
                    <a:pt x="527304" y="4572"/>
                  </a:moveTo>
                  <a:lnTo>
                    <a:pt x="522732" y="0"/>
                  </a:lnTo>
                  <a:lnTo>
                    <a:pt x="515112" y="0"/>
                  </a:lnTo>
                  <a:lnTo>
                    <a:pt x="510540" y="4572"/>
                  </a:lnTo>
                  <a:lnTo>
                    <a:pt x="510540" y="7620"/>
                  </a:lnTo>
                  <a:lnTo>
                    <a:pt x="510540" y="3761232"/>
                  </a:lnTo>
                  <a:lnTo>
                    <a:pt x="515112" y="3765804"/>
                  </a:lnTo>
                  <a:lnTo>
                    <a:pt x="522732" y="3765804"/>
                  </a:lnTo>
                  <a:lnTo>
                    <a:pt x="527304" y="3761232"/>
                  </a:lnTo>
                  <a:lnTo>
                    <a:pt x="527304" y="4572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84419" y="2314956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236219" y="292607"/>
                  </a:move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84419" y="2314956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978388" y="2280883"/>
            <a:ext cx="10350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395" b="1">
                <a:solidFill>
                  <a:srgbClr val="262424"/>
                </a:solidFill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67553" y="2337347"/>
            <a:ext cx="3633470" cy="664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22500">
              <a:lnSpc>
                <a:spcPct val="100000"/>
              </a:lnSpc>
              <a:spcBef>
                <a:spcPts val="120"/>
              </a:spcBef>
            </a:pPr>
            <a:r>
              <a:rPr dirty="0" sz="1250" spc="-40" b="1">
                <a:solidFill>
                  <a:srgbClr val="262424"/>
                </a:solidFill>
                <a:latin typeface="Tahoma"/>
                <a:cs typeface="Tahoma"/>
              </a:rPr>
              <a:t>Planning </a:t>
            </a:r>
            <a:r>
              <a:rPr dirty="0" sz="1250" spc="-165" b="1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dirty="0" sz="1250" spc="-1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62424"/>
                </a:solidFill>
                <a:latin typeface="Tahoma"/>
                <a:cs typeface="Tahoma"/>
              </a:rPr>
              <a:t>Design</a:t>
            </a:r>
            <a:endParaRPr sz="12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800"/>
              </a:spcBef>
            </a:pP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Database</a:t>
            </a:r>
            <a:r>
              <a:rPr dirty="0" sz="10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schema</a:t>
            </a:r>
            <a:r>
              <a:rPr dirty="0" sz="1000" spc="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definition</a:t>
            </a:r>
            <a:r>
              <a:rPr dirty="0" sz="10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UI/UX</a:t>
            </a:r>
            <a:r>
              <a:rPr dirty="0" sz="10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wireframes</a:t>
            </a:r>
            <a:r>
              <a:rPr dirty="0" sz="10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0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62424"/>
                </a:solidFill>
                <a:latin typeface="Tahoma"/>
                <a:cs typeface="Tahoma"/>
              </a:rPr>
              <a:t>home</a:t>
            </a:r>
            <a:endParaRPr sz="1000">
              <a:latin typeface="Tahoma"/>
              <a:cs typeface="Tahoma"/>
            </a:endParaRPr>
          </a:p>
          <a:p>
            <a:pPr algn="r" marR="5715">
              <a:lnSpc>
                <a:spcPct val="100000"/>
              </a:lnSpc>
              <a:spcBef>
                <a:spcPts val="315"/>
              </a:spcBef>
            </a:pP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0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detail</a:t>
            </a:r>
            <a:r>
              <a:rPr dirty="0" sz="10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pages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881879" y="3046984"/>
            <a:ext cx="667385" cy="297815"/>
            <a:chOff x="4881879" y="3046984"/>
            <a:chExt cx="667385" cy="297815"/>
          </a:xfrm>
        </p:grpSpPr>
        <p:sp>
          <p:nvSpPr>
            <p:cNvPr id="11" name="object 11" descr=""/>
            <p:cNvSpPr/>
            <p:nvPr/>
          </p:nvSpPr>
          <p:spPr>
            <a:xfrm>
              <a:off x="5160264" y="3188207"/>
              <a:ext cx="388620" cy="15240"/>
            </a:xfrm>
            <a:custGeom>
              <a:avLst/>
              <a:gdLst/>
              <a:ahLst/>
              <a:cxnLst/>
              <a:rect l="l" t="t" r="r" b="b"/>
              <a:pathLst>
                <a:path w="388620" h="15239">
                  <a:moveTo>
                    <a:pt x="385572" y="15240"/>
                  </a:moveTo>
                  <a:lnTo>
                    <a:pt x="3048" y="15240"/>
                  </a:lnTo>
                  <a:lnTo>
                    <a:pt x="0" y="12192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385572" y="0"/>
                  </a:lnTo>
                  <a:lnTo>
                    <a:pt x="388619" y="3048"/>
                  </a:lnTo>
                  <a:lnTo>
                    <a:pt x="388619" y="12192"/>
                  </a:lnTo>
                  <a:lnTo>
                    <a:pt x="385572" y="15240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84419" y="3049524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236219" y="292607"/>
                  </a:move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84419" y="3049524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958510" y="3015501"/>
            <a:ext cx="14287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0" b="1">
                <a:solidFill>
                  <a:srgbClr val="262424"/>
                </a:solidFill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667231" y="3071870"/>
            <a:ext cx="3784600" cy="474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35" b="1">
                <a:solidFill>
                  <a:srgbClr val="262424"/>
                </a:solidFill>
                <a:latin typeface="Tahoma"/>
                <a:cs typeface="Tahoma"/>
              </a:rPr>
              <a:t>Frontend</a:t>
            </a:r>
            <a:r>
              <a:rPr dirty="0" sz="1250" spc="-1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62424"/>
                </a:solidFill>
                <a:latin typeface="Tahoma"/>
                <a:cs typeface="Tahoma"/>
              </a:rPr>
              <a:t>Development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Responsive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card-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based</a:t>
            </a:r>
            <a:r>
              <a:rPr dirty="0" sz="100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layout</a:t>
            </a: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0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search</a:t>
            </a:r>
            <a:r>
              <a:rPr dirty="0" sz="10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category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filters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511040" y="3696207"/>
            <a:ext cx="667385" cy="297815"/>
            <a:chOff x="4511040" y="3696207"/>
            <a:chExt cx="667385" cy="297815"/>
          </a:xfrm>
        </p:grpSpPr>
        <p:sp>
          <p:nvSpPr>
            <p:cNvPr id="17" name="object 17" descr=""/>
            <p:cNvSpPr/>
            <p:nvPr/>
          </p:nvSpPr>
          <p:spPr>
            <a:xfrm>
              <a:off x="4511040" y="3837431"/>
              <a:ext cx="388620" cy="15240"/>
            </a:xfrm>
            <a:custGeom>
              <a:avLst/>
              <a:gdLst/>
              <a:ahLst/>
              <a:cxnLst/>
              <a:rect l="l" t="t" r="r" b="b"/>
              <a:pathLst>
                <a:path w="388620" h="15239">
                  <a:moveTo>
                    <a:pt x="385572" y="15240"/>
                  </a:moveTo>
                  <a:lnTo>
                    <a:pt x="3048" y="15240"/>
                  </a:lnTo>
                  <a:lnTo>
                    <a:pt x="0" y="12192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385572" y="0"/>
                  </a:lnTo>
                  <a:lnTo>
                    <a:pt x="388619" y="3048"/>
                  </a:lnTo>
                  <a:lnTo>
                    <a:pt x="388619" y="12192"/>
                  </a:lnTo>
                  <a:lnTo>
                    <a:pt x="385572" y="15240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84419" y="3698747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236219" y="292607"/>
                  </a:move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84419" y="3698747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957010" y="3664702"/>
            <a:ext cx="14414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0" b="1">
                <a:solidFill>
                  <a:srgbClr val="262424"/>
                </a:solidFill>
                <a:latin typeface="Tahoma"/>
                <a:cs typeface="Tahoma"/>
              </a:rPr>
              <a:t>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15645" y="3721125"/>
            <a:ext cx="3185160" cy="664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79245">
              <a:lnSpc>
                <a:spcPct val="100000"/>
              </a:lnSpc>
              <a:spcBef>
                <a:spcPts val="120"/>
              </a:spcBef>
            </a:pPr>
            <a:r>
              <a:rPr dirty="0" sz="1250" spc="-10" b="1">
                <a:solidFill>
                  <a:srgbClr val="262424"/>
                </a:solidFill>
                <a:latin typeface="Tahoma"/>
                <a:cs typeface="Tahoma"/>
              </a:rPr>
              <a:t>Backend</a:t>
            </a:r>
            <a:r>
              <a:rPr dirty="0" sz="1250" spc="-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65" b="1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dirty="0" sz="1250" spc="-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62424"/>
                </a:solidFill>
                <a:latin typeface="Tahoma"/>
                <a:cs typeface="Tahoma"/>
              </a:rPr>
              <a:t>Database</a:t>
            </a:r>
            <a:endParaRPr sz="12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800"/>
              </a:spcBef>
            </a:pP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dirty="0" sz="100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routes</a:t>
            </a:r>
            <a:r>
              <a:rPr dirty="0" sz="10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0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0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retrieval,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Cloudinary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integration,</a:t>
            </a:r>
            <a:endParaRPr sz="10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1000" spc="2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881879" y="4345432"/>
            <a:ext cx="667385" cy="297815"/>
            <a:chOff x="4881879" y="4345432"/>
            <a:chExt cx="667385" cy="297815"/>
          </a:xfrm>
        </p:grpSpPr>
        <p:sp>
          <p:nvSpPr>
            <p:cNvPr id="23" name="object 23" descr=""/>
            <p:cNvSpPr/>
            <p:nvPr/>
          </p:nvSpPr>
          <p:spPr>
            <a:xfrm>
              <a:off x="5160264" y="4486656"/>
              <a:ext cx="388620" cy="15240"/>
            </a:xfrm>
            <a:custGeom>
              <a:avLst/>
              <a:gdLst/>
              <a:ahLst/>
              <a:cxnLst/>
              <a:rect l="l" t="t" r="r" b="b"/>
              <a:pathLst>
                <a:path w="388620" h="15239">
                  <a:moveTo>
                    <a:pt x="385572" y="15240"/>
                  </a:moveTo>
                  <a:lnTo>
                    <a:pt x="3048" y="15240"/>
                  </a:lnTo>
                  <a:lnTo>
                    <a:pt x="0" y="12192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385572" y="0"/>
                  </a:lnTo>
                  <a:lnTo>
                    <a:pt x="388619" y="3048"/>
                  </a:lnTo>
                  <a:lnTo>
                    <a:pt x="388619" y="12192"/>
                  </a:lnTo>
                  <a:lnTo>
                    <a:pt x="385572" y="15240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84419" y="4347972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236219" y="292607"/>
                  </a:move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84419" y="4347972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955510" y="4313903"/>
            <a:ext cx="14986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0" b="1">
                <a:solidFill>
                  <a:srgbClr val="262424"/>
                </a:solidFill>
                <a:latin typeface="Tahoma"/>
                <a:cs typeface="Tahoma"/>
              </a:rPr>
              <a:t>4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667231" y="4370301"/>
            <a:ext cx="3311525" cy="473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20" b="1">
                <a:solidFill>
                  <a:srgbClr val="262424"/>
                </a:solidFill>
                <a:latin typeface="Tahoma"/>
                <a:cs typeface="Tahoma"/>
              </a:rPr>
              <a:t>Unique</a:t>
            </a:r>
            <a:r>
              <a:rPr dirty="0" sz="1250" spc="-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62424"/>
                </a:solidFill>
                <a:latin typeface="Tahoma"/>
                <a:cs typeface="Tahoma"/>
              </a:rPr>
              <a:t>Integrations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262424"/>
                </a:solidFill>
                <a:latin typeface="Tahoma"/>
                <a:cs typeface="Tahoma"/>
              </a:rPr>
              <a:t>code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generator</a:t>
            </a:r>
            <a:r>
              <a:rPr dirty="0" sz="10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automated</a:t>
            </a:r>
            <a:r>
              <a:rPr dirty="0" sz="1000" spc="1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email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confirmations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11040" y="4994910"/>
            <a:ext cx="666750" cy="297180"/>
            <a:chOff x="4511040" y="4994910"/>
            <a:chExt cx="666750" cy="297180"/>
          </a:xfrm>
        </p:grpSpPr>
        <p:sp>
          <p:nvSpPr>
            <p:cNvPr id="29" name="object 29" descr=""/>
            <p:cNvSpPr/>
            <p:nvPr/>
          </p:nvSpPr>
          <p:spPr>
            <a:xfrm>
              <a:off x="4511040" y="5135880"/>
              <a:ext cx="388620" cy="15240"/>
            </a:xfrm>
            <a:custGeom>
              <a:avLst/>
              <a:gdLst/>
              <a:ahLst/>
              <a:cxnLst/>
              <a:rect l="l" t="t" r="r" b="b"/>
              <a:pathLst>
                <a:path w="388620" h="15239">
                  <a:moveTo>
                    <a:pt x="385572" y="15240"/>
                  </a:moveTo>
                  <a:lnTo>
                    <a:pt x="3048" y="15240"/>
                  </a:lnTo>
                  <a:lnTo>
                    <a:pt x="0" y="12192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385572" y="0"/>
                  </a:lnTo>
                  <a:lnTo>
                    <a:pt x="388619" y="3048"/>
                  </a:lnTo>
                  <a:lnTo>
                    <a:pt x="388619" y="12192"/>
                  </a:lnTo>
                  <a:lnTo>
                    <a:pt x="385572" y="15240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84419" y="4997196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236219" y="292607"/>
                  </a:move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884419" y="4997196"/>
              <a:ext cx="291465" cy="292735"/>
            </a:xfrm>
            <a:custGeom>
              <a:avLst/>
              <a:gdLst/>
              <a:ahLst/>
              <a:cxnLst/>
              <a:rect l="l" t="t" r="r" b="b"/>
              <a:pathLst>
                <a:path w="291464" h="292735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236219" y="0"/>
                  </a:lnTo>
                  <a:lnTo>
                    <a:pt x="257651" y="4286"/>
                  </a:lnTo>
                  <a:lnTo>
                    <a:pt x="275081" y="16001"/>
                  </a:lnTo>
                  <a:lnTo>
                    <a:pt x="286797" y="33432"/>
                  </a:lnTo>
                  <a:lnTo>
                    <a:pt x="291083" y="54863"/>
                  </a:lnTo>
                  <a:lnTo>
                    <a:pt x="291083" y="237744"/>
                  </a:lnTo>
                  <a:lnTo>
                    <a:pt x="286797" y="259175"/>
                  </a:lnTo>
                  <a:lnTo>
                    <a:pt x="275081" y="276605"/>
                  </a:lnTo>
                  <a:lnTo>
                    <a:pt x="257651" y="288321"/>
                  </a:lnTo>
                  <a:lnTo>
                    <a:pt x="236219" y="292607"/>
                  </a:lnTo>
                  <a:lnTo>
                    <a:pt x="53339" y="292607"/>
                  </a:lnTo>
                  <a:lnTo>
                    <a:pt x="32789" y="288321"/>
                  </a:lnTo>
                  <a:lnTo>
                    <a:pt x="15811" y="276605"/>
                  </a:lnTo>
                  <a:lnTo>
                    <a:pt x="4262" y="259175"/>
                  </a:lnTo>
                  <a:lnTo>
                    <a:pt x="0" y="237744"/>
                  </a:lnTo>
                  <a:lnTo>
                    <a:pt x="0" y="54863"/>
                  </a:lnTo>
                  <a:close/>
                </a:path>
              </a:pathLst>
            </a:custGeom>
            <a:ln w="4572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960104" y="4963105"/>
            <a:ext cx="13970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0" b="1">
                <a:solidFill>
                  <a:srgbClr val="262424"/>
                </a:solidFill>
                <a:latin typeface="Tahoma"/>
                <a:cs typeface="Tahoma"/>
              </a:rPr>
              <a:t>5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62051" y="5019556"/>
            <a:ext cx="3538854" cy="664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27530">
              <a:lnSpc>
                <a:spcPct val="100000"/>
              </a:lnSpc>
              <a:spcBef>
                <a:spcPts val="120"/>
              </a:spcBef>
            </a:pPr>
            <a:r>
              <a:rPr dirty="0" sz="1250" spc="-20" b="1">
                <a:solidFill>
                  <a:srgbClr val="262424"/>
                </a:solidFill>
                <a:latin typeface="Tahoma"/>
                <a:cs typeface="Tahoma"/>
              </a:rPr>
              <a:t>Testing</a:t>
            </a:r>
            <a:r>
              <a:rPr dirty="0" sz="1250" spc="-3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165" b="1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dirty="0" sz="1250" spc="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50" spc="-25" b="1">
                <a:solidFill>
                  <a:srgbClr val="262424"/>
                </a:solidFill>
                <a:latin typeface="Tahoma"/>
                <a:cs typeface="Tahoma"/>
              </a:rPr>
              <a:t>Deployment</a:t>
            </a:r>
            <a:endParaRPr sz="1250">
              <a:latin typeface="Tahoma"/>
              <a:cs typeface="Tahoma"/>
            </a:endParaRPr>
          </a:p>
          <a:p>
            <a:pPr algn="r" marR="5715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Bug</a:t>
            </a:r>
            <a:r>
              <a:rPr dirty="0" sz="10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hunting</a:t>
            </a:r>
            <a:r>
              <a:rPr dirty="0" sz="10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devices</a:t>
            </a:r>
            <a:r>
              <a:rPr dirty="0" sz="10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hosting</a:t>
            </a:r>
            <a:r>
              <a:rPr dirty="0" sz="10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on</a:t>
            </a:r>
            <a:r>
              <a:rPr dirty="0" sz="10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Vercel,</a:t>
            </a:r>
            <a:r>
              <a:rPr dirty="0" sz="10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Netlify,</a:t>
            </a:r>
            <a:endParaRPr sz="10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Render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1057656"/>
            <a:ext cx="3777996" cy="5658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616" y="1803929"/>
            <a:ext cx="5581650" cy="314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0"/>
              <a:t>Design </a:t>
            </a:r>
            <a:r>
              <a:rPr dirty="0" sz="1900" spc="-270"/>
              <a:t>&amp;</a:t>
            </a:r>
            <a:r>
              <a:rPr dirty="0" sz="1900"/>
              <a:t> </a:t>
            </a:r>
            <a:r>
              <a:rPr dirty="0" sz="1900" spc="-75"/>
              <a:t>Architecture:</a:t>
            </a:r>
            <a:r>
              <a:rPr dirty="0" sz="1900" spc="-55"/>
              <a:t> </a:t>
            </a:r>
            <a:r>
              <a:rPr dirty="0" sz="1900"/>
              <a:t>Core</a:t>
            </a:r>
            <a:r>
              <a:rPr dirty="0" sz="1900" spc="-40"/>
              <a:t> </a:t>
            </a:r>
            <a:r>
              <a:rPr dirty="0" sz="1900" spc="-65"/>
              <a:t>System </a:t>
            </a:r>
            <a:r>
              <a:rPr dirty="0" sz="1900" spc="-45"/>
              <a:t>Architecture</a:t>
            </a:r>
            <a:endParaRPr sz="1900"/>
          </a:p>
        </p:txBody>
      </p:sp>
      <p:sp>
        <p:nvSpPr>
          <p:cNvPr id="4" name="object 4" descr=""/>
          <p:cNvSpPr/>
          <p:nvPr/>
        </p:nvSpPr>
        <p:spPr>
          <a:xfrm>
            <a:off x="341376" y="2525280"/>
            <a:ext cx="5605780" cy="291465"/>
          </a:xfrm>
          <a:custGeom>
            <a:avLst/>
            <a:gdLst/>
            <a:ahLst/>
            <a:cxnLst/>
            <a:rect l="l" t="t" r="r" b="b"/>
            <a:pathLst>
              <a:path w="5605780" h="291464">
                <a:moveTo>
                  <a:pt x="5605259" y="155448"/>
                </a:moveTo>
                <a:lnTo>
                  <a:pt x="5603672" y="146964"/>
                </a:lnTo>
                <a:lnTo>
                  <a:pt x="5599366" y="140208"/>
                </a:lnTo>
                <a:lnTo>
                  <a:pt x="5593054" y="135724"/>
                </a:lnTo>
                <a:lnTo>
                  <a:pt x="5585460" y="134112"/>
                </a:lnTo>
                <a:lnTo>
                  <a:pt x="2947200" y="134112"/>
                </a:lnTo>
                <a:lnTo>
                  <a:pt x="2941472" y="98704"/>
                </a:lnTo>
                <a:lnTo>
                  <a:pt x="2920695" y="58915"/>
                </a:lnTo>
                <a:lnTo>
                  <a:pt x="2889021" y="27698"/>
                </a:lnTo>
                <a:lnTo>
                  <a:pt x="2848864" y="7302"/>
                </a:lnTo>
                <a:lnTo>
                  <a:pt x="2802636" y="0"/>
                </a:lnTo>
                <a:lnTo>
                  <a:pt x="2756395" y="7302"/>
                </a:lnTo>
                <a:lnTo>
                  <a:pt x="2716238" y="27698"/>
                </a:lnTo>
                <a:lnTo>
                  <a:pt x="2684564" y="58915"/>
                </a:lnTo>
                <a:lnTo>
                  <a:pt x="2663787" y="98704"/>
                </a:lnTo>
                <a:lnTo>
                  <a:pt x="2658046" y="134112"/>
                </a:lnTo>
                <a:lnTo>
                  <a:pt x="19812" y="134112"/>
                </a:lnTo>
                <a:lnTo>
                  <a:pt x="12204" y="135724"/>
                </a:lnTo>
                <a:lnTo>
                  <a:pt x="5905" y="140208"/>
                </a:lnTo>
                <a:lnTo>
                  <a:pt x="1587" y="146964"/>
                </a:lnTo>
                <a:lnTo>
                  <a:pt x="0" y="155448"/>
                </a:lnTo>
                <a:lnTo>
                  <a:pt x="1587" y="163918"/>
                </a:lnTo>
                <a:lnTo>
                  <a:pt x="5905" y="170688"/>
                </a:lnTo>
                <a:lnTo>
                  <a:pt x="12204" y="175158"/>
                </a:lnTo>
                <a:lnTo>
                  <a:pt x="19812" y="176784"/>
                </a:lnTo>
                <a:lnTo>
                  <a:pt x="2661488" y="176784"/>
                </a:lnTo>
                <a:lnTo>
                  <a:pt x="2663787" y="191008"/>
                </a:lnTo>
                <a:lnTo>
                  <a:pt x="2684564" y="231165"/>
                </a:lnTo>
                <a:lnTo>
                  <a:pt x="2716238" y="262839"/>
                </a:lnTo>
                <a:lnTo>
                  <a:pt x="2756395" y="283616"/>
                </a:lnTo>
                <a:lnTo>
                  <a:pt x="2802636" y="291084"/>
                </a:lnTo>
                <a:lnTo>
                  <a:pt x="2848864" y="283616"/>
                </a:lnTo>
                <a:lnTo>
                  <a:pt x="2889021" y="262839"/>
                </a:lnTo>
                <a:lnTo>
                  <a:pt x="2920695" y="231165"/>
                </a:lnTo>
                <a:lnTo>
                  <a:pt x="2941472" y="191008"/>
                </a:lnTo>
                <a:lnTo>
                  <a:pt x="2943758" y="176784"/>
                </a:lnTo>
                <a:lnTo>
                  <a:pt x="5585460" y="176784"/>
                </a:lnTo>
                <a:lnTo>
                  <a:pt x="5593054" y="175158"/>
                </a:lnTo>
                <a:lnTo>
                  <a:pt x="5599366" y="170688"/>
                </a:lnTo>
                <a:lnTo>
                  <a:pt x="5603672" y="163918"/>
                </a:lnTo>
                <a:lnTo>
                  <a:pt x="5605259" y="155448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36870" y="2584190"/>
            <a:ext cx="3693160" cy="640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989965">
              <a:lnSpc>
                <a:spcPct val="100000"/>
              </a:lnSpc>
              <a:spcBef>
                <a:spcPts val="135"/>
              </a:spcBef>
            </a:pPr>
            <a:r>
              <a:rPr dirty="0" sz="85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 b="1">
                <a:solidFill>
                  <a:srgbClr val="262424"/>
                </a:solidFill>
                <a:latin typeface="Tahoma"/>
                <a:cs typeface="Tahoma"/>
              </a:rPr>
              <a:t>User </a:t>
            </a:r>
            <a:r>
              <a:rPr dirty="0" sz="900" spc="-10" b="1">
                <a:solidFill>
                  <a:srgbClr val="262424"/>
                </a:solidFill>
                <a:latin typeface="Tahoma"/>
                <a:cs typeface="Tahoma"/>
              </a:rPr>
              <a:t>Authentication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Secure</a:t>
            </a:r>
            <a:r>
              <a:rPr dirty="0" sz="75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login</a:t>
            </a:r>
            <a:r>
              <a:rPr dirty="0" sz="75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via</a:t>
            </a:r>
            <a:r>
              <a:rPr dirty="0" sz="7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Google</a:t>
            </a:r>
            <a:r>
              <a:rPr dirty="0" sz="7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OAuth</a:t>
            </a:r>
            <a:r>
              <a:rPr dirty="0" sz="7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7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email</a:t>
            </a:r>
            <a:r>
              <a:rPr dirty="0" sz="75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r>
              <a:rPr dirty="0" sz="7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7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students</a:t>
            </a:r>
            <a:r>
              <a:rPr dirty="0" sz="75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75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62424"/>
                </a:solidFill>
                <a:latin typeface="Tahoma"/>
                <a:cs typeface="Tahoma"/>
              </a:rPr>
              <a:t>organisers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41376" y="3395471"/>
            <a:ext cx="5605780" cy="291465"/>
          </a:xfrm>
          <a:custGeom>
            <a:avLst/>
            <a:gdLst/>
            <a:ahLst/>
            <a:cxnLst/>
            <a:rect l="l" t="t" r="r" b="b"/>
            <a:pathLst>
              <a:path w="5605780" h="291464">
                <a:moveTo>
                  <a:pt x="5605259" y="156972"/>
                </a:moveTo>
                <a:lnTo>
                  <a:pt x="5603672" y="148501"/>
                </a:lnTo>
                <a:lnTo>
                  <a:pt x="5599366" y="141732"/>
                </a:lnTo>
                <a:lnTo>
                  <a:pt x="5593054" y="137261"/>
                </a:lnTo>
                <a:lnTo>
                  <a:pt x="5585460" y="135636"/>
                </a:lnTo>
                <a:lnTo>
                  <a:pt x="2947212" y="135636"/>
                </a:lnTo>
                <a:lnTo>
                  <a:pt x="2941472" y="100076"/>
                </a:lnTo>
                <a:lnTo>
                  <a:pt x="2920695" y="59918"/>
                </a:lnTo>
                <a:lnTo>
                  <a:pt x="2889021" y="28244"/>
                </a:lnTo>
                <a:lnTo>
                  <a:pt x="2848864" y="7467"/>
                </a:lnTo>
                <a:lnTo>
                  <a:pt x="2802636" y="0"/>
                </a:lnTo>
                <a:lnTo>
                  <a:pt x="2756395" y="7467"/>
                </a:lnTo>
                <a:lnTo>
                  <a:pt x="2716238" y="28244"/>
                </a:lnTo>
                <a:lnTo>
                  <a:pt x="2684564" y="59918"/>
                </a:lnTo>
                <a:lnTo>
                  <a:pt x="2663787" y="100076"/>
                </a:lnTo>
                <a:lnTo>
                  <a:pt x="2658046" y="135636"/>
                </a:lnTo>
                <a:lnTo>
                  <a:pt x="19812" y="135636"/>
                </a:lnTo>
                <a:lnTo>
                  <a:pt x="12204" y="137261"/>
                </a:lnTo>
                <a:lnTo>
                  <a:pt x="5905" y="141732"/>
                </a:lnTo>
                <a:lnTo>
                  <a:pt x="1587" y="148501"/>
                </a:lnTo>
                <a:lnTo>
                  <a:pt x="0" y="156972"/>
                </a:lnTo>
                <a:lnTo>
                  <a:pt x="1587" y="164579"/>
                </a:lnTo>
                <a:lnTo>
                  <a:pt x="5905" y="170878"/>
                </a:lnTo>
                <a:lnTo>
                  <a:pt x="12204" y="175196"/>
                </a:lnTo>
                <a:lnTo>
                  <a:pt x="19812" y="176784"/>
                </a:lnTo>
                <a:lnTo>
                  <a:pt x="2661259" y="176784"/>
                </a:lnTo>
                <a:lnTo>
                  <a:pt x="2663787" y="192379"/>
                </a:lnTo>
                <a:lnTo>
                  <a:pt x="2684564" y="232168"/>
                </a:lnTo>
                <a:lnTo>
                  <a:pt x="2716238" y="263385"/>
                </a:lnTo>
                <a:lnTo>
                  <a:pt x="2756395" y="283781"/>
                </a:lnTo>
                <a:lnTo>
                  <a:pt x="2802636" y="291084"/>
                </a:lnTo>
                <a:lnTo>
                  <a:pt x="2848864" y="283781"/>
                </a:lnTo>
                <a:lnTo>
                  <a:pt x="2889021" y="263385"/>
                </a:lnTo>
                <a:lnTo>
                  <a:pt x="2920695" y="232168"/>
                </a:lnTo>
                <a:lnTo>
                  <a:pt x="2941472" y="192379"/>
                </a:lnTo>
                <a:lnTo>
                  <a:pt x="2943999" y="176784"/>
                </a:lnTo>
                <a:lnTo>
                  <a:pt x="5585460" y="176784"/>
                </a:lnTo>
                <a:lnTo>
                  <a:pt x="5593054" y="175196"/>
                </a:lnTo>
                <a:lnTo>
                  <a:pt x="5599366" y="170878"/>
                </a:lnTo>
                <a:lnTo>
                  <a:pt x="5603672" y="164579"/>
                </a:lnTo>
                <a:lnTo>
                  <a:pt x="5605259" y="156972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36870" y="3454408"/>
            <a:ext cx="3327400" cy="642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601345">
              <a:lnSpc>
                <a:spcPct val="100000"/>
              </a:lnSpc>
              <a:spcBef>
                <a:spcPts val="135"/>
              </a:spcBef>
            </a:pPr>
            <a:r>
              <a:rPr dirty="0" sz="85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 spc="-20" b="1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900" spc="-3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62424"/>
                </a:solidFill>
                <a:latin typeface="Tahoma"/>
                <a:cs typeface="Tahoma"/>
              </a:rPr>
              <a:t>Discovery</a:t>
            </a:r>
            <a:r>
              <a:rPr dirty="0" sz="900" spc="-3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62424"/>
                </a:solidFill>
                <a:latin typeface="Tahoma"/>
                <a:cs typeface="Tahoma"/>
              </a:rPr>
              <a:t>Engine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Searchable, filtered</a:t>
            </a:r>
            <a:r>
              <a:rPr dirty="0" sz="7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feed</a:t>
            </a:r>
            <a:r>
              <a:rPr dirty="0" sz="7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displaying</a:t>
            </a:r>
            <a:r>
              <a:rPr dirty="0" sz="7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technical,</a:t>
            </a:r>
            <a:r>
              <a:rPr dirty="0" sz="7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cultural,</a:t>
            </a:r>
            <a:r>
              <a:rPr dirty="0" sz="7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7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sports</a:t>
            </a:r>
            <a:r>
              <a:rPr dirty="0" sz="75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62424"/>
                </a:solidFill>
                <a:latin typeface="Tahoma"/>
                <a:cs typeface="Tahoma"/>
              </a:rPr>
              <a:t>events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41376" y="4267212"/>
            <a:ext cx="5605780" cy="291465"/>
          </a:xfrm>
          <a:custGeom>
            <a:avLst/>
            <a:gdLst/>
            <a:ahLst/>
            <a:cxnLst/>
            <a:rect l="l" t="t" r="r" b="b"/>
            <a:pathLst>
              <a:path w="5605780" h="291464">
                <a:moveTo>
                  <a:pt x="5605259" y="155448"/>
                </a:moveTo>
                <a:lnTo>
                  <a:pt x="5603672" y="147612"/>
                </a:lnTo>
                <a:lnTo>
                  <a:pt x="5599366" y="140779"/>
                </a:lnTo>
                <a:lnTo>
                  <a:pt x="5593054" y="135940"/>
                </a:lnTo>
                <a:lnTo>
                  <a:pt x="5585460" y="134112"/>
                </a:lnTo>
                <a:lnTo>
                  <a:pt x="2947200" y="134112"/>
                </a:lnTo>
                <a:lnTo>
                  <a:pt x="2941472" y="98704"/>
                </a:lnTo>
                <a:lnTo>
                  <a:pt x="2920695" y="58915"/>
                </a:lnTo>
                <a:lnTo>
                  <a:pt x="2889021" y="27698"/>
                </a:lnTo>
                <a:lnTo>
                  <a:pt x="2848864" y="7302"/>
                </a:lnTo>
                <a:lnTo>
                  <a:pt x="2802636" y="0"/>
                </a:lnTo>
                <a:lnTo>
                  <a:pt x="2756395" y="7302"/>
                </a:lnTo>
                <a:lnTo>
                  <a:pt x="2716238" y="27698"/>
                </a:lnTo>
                <a:lnTo>
                  <a:pt x="2684564" y="58915"/>
                </a:lnTo>
                <a:lnTo>
                  <a:pt x="2663787" y="98704"/>
                </a:lnTo>
                <a:lnTo>
                  <a:pt x="2658046" y="134112"/>
                </a:lnTo>
                <a:lnTo>
                  <a:pt x="19812" y="134112"/>
                </a:lnTo>
                <a:lnTo>
                  <a:pt x="12204" y="135940"/>
                </a:lnTo>
                <a:lnTo>
                  <a:pt x="5905" y="140779"/>
                </a:lnTo>
                <a:lnTo>
                  <a:pt x="1587" y="147612"/>
                </a:lnTo>
                <a:lnTo>
                  <a:pt x="0" y="155448"/>
                </a:lnTo>
                <a:lnTo>
                  <a:pt x="1587" y="163918"/>
                </a:lnTo>
                <a:lnTo>
                  <a:pt x="5905" y="170688"/>
                </a:lnTo>
                <a:lnTo>
                  <a:pt x="12204" y="175158"/>
                </a:lnTo>
                <a:lnTo>
                  <a:pt x="19812" y="176784"/>
                </a:lnTo>
                <a:lnTo>
                  <a:pt x="2661488" y="176784"/>
                </a:lnTo>
                <a:lnTo>
                  <a:pt x="2663787" y="191008"/>
                </a:lnTo>
                <a:lnTo>
                  <a:pt x="2684564" y="231165"/>
                </a:lnTo>
                <a:lnTo>
                  <a:pt x="2716238" y="262839"/>
                </a:lnTo>
                <a:lnTo>
                  <a:pt x="2756395" y="283616"/>
                </a:lnTo>
                <a:lnTo>
                  <a:pt x="2802636" y="291084"/>
                </a:lnTo>
                <a:lnTo>
                  <a:pt x="2848864" y="283616"/>
                </a:lnTo>
                <a:lnTo>
                  <a:pt x="2889021" y="262839"/>
                </a:lnTo>
                <a:lnTo>
                  <a:pt x="2920695" y="231165"/>
                </a:lnTo>
                <a:lnTo>
                  <a:pt x="2941472" y="191008"/>
                </a:lnTo>
                <a:lnTo>
                  <a:pt x="2943758" y="176784"/>
                </a:lnTo>
                <a:lnTo>
                  <a:pt x="5585460" y="176784"/>
                </a:lnTo>
                <a:lnTo>
                  <a:pt x="5593054" y="175158"/>
                </a:lnTo>
                <a:lnTo>
                  <a:pt x="5599366" y="170688"/>
                </a:lnTo>
                <a:lnTo>
                  <a:pt x="5603672" y="163918"/>
                </a:lnTo>
                <a:lnTo>
                  <a:pt x="5605259" y="155448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36870" y="4326183"/>
            <a:ext cx="3211830" cy="640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484505">
              <a:lnSpc>
                <a:spcPct val="100000"/>
              </a:lnSpc>
              <a:spcBef>
                <a:spcPts val="135"/>
              </a:spcBef>
            </a:pPr>
            <a:r>
              <a:rPr dirty="0" sz="85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 spc="-20" b="1">
                <a:solidFill>
                  <a:srgbClr val="262424"/>
                </a:solidFill>
                <a:latin typeface="Tahoma"/>
                <a:cs typeface="Tahoma"/>
              </a:rPr>
              <a:t>Organiser</a:t>
            </a:r>
            <a:r>
              <a:rPr dirty="0" sz="900" spc="2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Private</a:t>
            </a:r>
            <a:r>
              <a:rPr dirty="0" sz="75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interface</a:t>
            </a:r>
            <a:r>
              <a:rPr dirty="0" sz="75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75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clubs</a:t>
            </a:r>
            <a:r>
              <a:rPr dirty="0" sz="75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7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post</a:t>
            </a:r>
            <a:r>
              <a:rPr dirty="0" sz="75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events</a:t>
            </a:r>
            <a:r>
              <a:rPr dirty="0" sz="7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75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analyse</a:t>
            </a:r>
            <a:r>
              <a:rPr dirty="0" sz="75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7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41376" y="5137403"/>
            <a:ext cx="5605780" cy="291465"/>
          </a:xfrm>
          <a:custGeom>
            <a:avLst/>
            <a:gdLst/>
            <a:ahLst/>
            <a:cxnLst/>
            <a:rect l="l" t="t" r="r" b="b"/>
            <a:pathLst>
              <a:path w="5605780" h="291464">
                <a:moveTo>
                  <a:pt x="5605259" y="156984"/>
                </a:moveTo>
                <a:lnTo>
                  <a:pt x="5603672" y="148501"/>
                </a:lnTo>
                <a:lnTo>
                  <a:pt x="5599366" y="141744"/>
                </a:lnTo>
                <a:lnTo>
                  <a:pt x="5593054" y="137261"/>
                </a:lnTo>
                <a:lnTo>
                  <a:pt x="5585460" y="135648"/>
                </a:lnTo>
                <a:lnTo>
                  <a:pt x="2947212" y="135648"/>
                </a:lnTo>
                <a:lnTo>
                  <a:pt x="2941472" y="100076"/>
                </a:lnTo>
                <a:lnTo>
                  <a:pt x="2920695" y="59918"/>
                </a:lnTo>
                <a:lnTo>
                  <a:pt x="2889021" y="28244"/>
                </a:lnTo>
                <a:lnTo>
                  <a:pt x="2848864" y="7467"/>
                </a:lnTo>
                <a:lnTo>
                  <a:pt x="2802636" y="0"/>
                </a:lnTo>
                <a:lnTo>
                  <a:pt x="2756395" y="7467"/>
                </a:lnTo>
                <a:lnTo>
                  <a:pt x="2716238" y="28244"/>
                </a:lnTo>
                <a:lnTo>
                  <a:pt x="2684564" y="59918"/>
                </a:lnTo>
                <a:lnTo>
                  <a:pt x="2663787" y="100076"/>
                </a:lnTo>
                <a:lnTo>
                  <a:pt x="2658046" y="135648"/>
                </a:lnTo>
                <a:lnTo>
                  <a:pt x="19812" y="135648"/>
                </a:lnTo>
                <a:lnTo>
                  <a:pt x="12204" y="137261"/>
                </a:lnTo>
                <a:lnTo>
                  <a:pt x="5905" y="141744"/>
                </a:lnTo>
                <a:lnTo>
                  <a:pt x="1587" y="148501"/>
                </a:lnTo>
                <a:lnTo>
                  <a:pt x="0" y="156984"/>
                </a:lnTo>
                <a:lnTo>
                  <a:pt x="1587" y="164579"/>
                </a:lnTo>
                <a:lnTo>
                  <a:pt x="5905" y="170891"/>
                </a:lnTo>
                <a:lnTo>
                  <a:pt x="12204" y="175196"/>
                </a:lnTo>
                <a:lnTo>
                  <a:pt x="19812" y="176796"/>
                </a:lnTo>
                <a:lnTo>
                  <a:pt x="2661259" y="176796"/>
                </a:lnTo>
                <a:lnTo>
                  <a:pt x="2663787" y="192379"/>
                </a:lnTo>
                <a:lnTo>
                  <a:pt x="2684564" y="232168"/>
                </a:lnTo>
                <a:lnTo>
                  <a:pt x="2716238" y="263385"/>
                </a:lnTo>
                <a:lnTo>
                  <a:pt x="2756395" y="283781"/>
                </a:lnTo>
                <a:lnTo>
                  <a:pt x="2802636" y="291084"/>
                </a:lnTo>
                <a:lnTo>
                  <a:pt x="2848864" y="283781"/>
                </a:lnTo>
                <a:lnTo>
                  <a:pt x="2889021" y="263385"/>
                </a:lnTo>
                <a:lnTo>
                  <a:pt x="2920695" y="232168"/>
                </a:lnTo>
                <a:lnTo>
                  <a:pt x="2941472" y="192379"/>
                </a:lnTo>
                <a:lnTo>
                  <a:pt x="2943987" y="176796"/>
                </a:lnTo>
                <a:lnTo>
                  <a:pt x="5585460" y="176796"/>
                </a:lnTo>
                <a:lnTo>
                  <a:pt x="5593054" y="175196"/>
                </a:lnTo>
                <a:lnTo>
                  <a:pt x="5599366" y="170891"/>
                </a:lnTo>
                <a:lnTo>
                  <a:pt x="5603672" y="164579"/>
                </a:lnTo>
                <a:lnTo>
                  <a:pt x="5605259" y="156984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36870" y="5196340"/>
            <a:ext cx="3621404" cy="642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891540">
              <a:lnSpc>
                <a:spcPct val="100000"/>
              </a:lnSpc>
              <a:spcBef>
                <a:spcPts val="135"/>
              </a:spcBef>
            </a:pPr>
            <a:r>
              <a:rPr dirty="0" sz="85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 spc="-40" b="1">
                <a:solidFill>
                  <a:srgbClr val="262424"/>
                </a:solidFill>
                <a:latin typeface="Tahoma"/>
                <a:cs typeface="Tahoma"/>
              </a:rPr>
              <a:t>Smart</a:t>
            </a:r>
            <a:r>
              <a:rPr dirty="0" sz="900" spc="1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262424"/>
                </a:solidFill>
                <a:latin typeface="Tahoma"/>
                <a:cs typeface="Tahoma"/>
              </a:rPr>
              <a:t>Features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QR-based</a:t>
            </a:r>
            <a:r>
              <a:rPr dirty="0" sz="75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55">
                <a:solidFill>
                  <a:srgbClr val="262424"/>
                </a:solidFill>
                <a:latin typeface="Tahoma"/>
                <a:cs typeface="Tahoma"/>
              </a:rPr>
              <a:t>check-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ins,</a:t>
            </a:r>
            <a:r>
              <a:rPr dirty="0" sz="7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automated</a:t>
            </a:r>
            <a:r>
              <a:rPr dirty="0" sz="7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PDF</a:t>
            </a:r>
            <a:r>
              <a:rPr dirty="0" sz="75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certificates,</a:t>
            </a:r>
            <a:r>
              <a:rPr dirty="0" sz="750" spc="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7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cross-college</a:t>
            </a:r>
            <a:r>
              <a:rPr dirty="0" sz="75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750" spc="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262424"/>
                </a:solidFill>
                <a:latin typeface="Tahoma"/>
                <a:cs typeface="Tahoma"/>
              </a:rPr>
              <a:t>map</a:t>
            </a:r>
            <a:endParaRPr sz="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1057656"/>
            <a:ext cx="3777996" cy="5658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367" y="2017312"/>
            <a:ext cx="4159885" cy="98107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ts val="3850"/>
              </a:lnSpc>
              <a:spcBef>
                <a:spcPts val="20"/>
              </a:spcBef>
            </a:pPr>
            <a:r>
              <a:rPr dirty="0" spc="-70"/>
              <a:t>Design</a:t>
            </a:r>
            <a:r>
              <a:rPr dirty="0" spc="-110"/>
              <a:t> </a:t>
            </a:r>
            <a:r>
              <a:rPr dirty="0" spc="-430"/>
              <a:t>&amp;</a:t>
            </a:r>
            <a:r>
              <a:rPr dirty="0" spc="-50"/>
              <a:t> </a:t>
            </a:r>
            <a:r>
              <a:rPr dirty="0" spc="-100"/>
              <a:t>Architecture: </a:t>
            </a:r>
            <a:r>
              <a:rPr dirty="0" spc="-80"/>
              <a:t>Database</a:t>
            </a:r>
            <a:r>
              <a:rPr dirty="0" spc="-145"/>
              <a:t> </a:t>
            </a:r>
            <a:r>
              <a:rPr dirty="0" spc="-10"/>
              <a:t>Schema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34395" y="3393451"/>
            <a:ext cx="112458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latin typeface="Tahoma"/>
                <a:cs typeface="Tahoma"/>
              </a:rPr>
              <a:t>Users</a:t>
            </a:r>
            <a:r>
              <a:rPr dirty="0" sz="1500" spc="-65" b="1">
                <a:latin typeface="Tahoma"/>
                <a:cs typeface="Tahoma"/>
              </a:rPr>
              <a:t> </a:t>
            </a:r>
            <a:r>
              <a:rPr dirty="0" sz="1500" spc="-10" b="1">
                <a:latin typeface="Tahoma"/>
                <a:cs typeface="Tahoma"/>
              </a:rPr>
              <a:t>Table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4390" y="3769802"/>
            <a:ext cx="1446530" cy="1799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920" marR="26670" indent="-236854">
              <a:lnSpc>
                <a:spcPct val="138300"/>
              </a:lnSpc>
              <a:spcBef>
                <a:spcPts val="100"/>
              </a:spcBef>
              <a:buChar char="•"/>
              <a:tabLst>
                <a:tab pos="248920" algn="l"/>
              </a:tabLst>
            </a:pP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Name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email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fields</a:t>
            </a:r>
            <a:endParaRPr sz="1200">
              <a:latin typeface="Tahoma"/>
              <a:cs typeface="Tahoma"/>
            </a:endParaRPr>
          </a:p>
          <a:p>
            <a:pPr marL="248920" marR="198755" indent="-236854">
              <a:lnSpc>
                <a:spcPts val="2000"/>
              </a:lnSpc>
              <a:spcBef>
                <a:spcPts val="150"/>
              </a:spcBef>
              <a:buChar char="•"/>
              <a:tabLst>
                <a:tab pos="248920" algn="l"/>
              </a:tabLst>
            </a:pP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20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name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attribute</a:t>
            </a:r>
            <a:endParaRPr sz="1200">
              <a:latin typeface="Tahoma"/>
              <a:cs typeface="Tahoma"/>
            </a:endParaRPr>
          </a:p>
          <a:p>
            <a:pPr marL="248920" marR="248920" indent="-236854">
              <a:lnSpc>
                <a:spcPts val="1989"/>
              </a:lnSpc>
              <a:spcBef>
                <a:spcPts val="5"/>
              </a:spcBef>
              <a:buChar char="•"/>
              <a:tabLst>
                <a:tab pos="248920" algn="l"/>
              </a:tabLst>
            </a:pP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Role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classification</a:t>
            </a:r>
            <a:endParaRPr sz="1200">
              <a:latin typeface="Tahoma"/>
              <a:cs typeface="Tahoma"/>
            </a:endParaRPr>
          </a:p>
          <a:p>
            <a:pPr marL="248920">
              <a:lnSpc>
                <a:spcPct val="100000"/>
              </a:lnSpc>
              <a:spcBef>
                <a:spcPts val="409"/>
              </a:spcBef>
            </a:pP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(Student/Admin)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98271" y="3393451"/>
            <a:ext cx="121094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30" b="1">
                <a:latin typeface="Tahoma"/>
                <a:cs typeface="Tahoma"/>
              </a:rPr>
              <a:t>Events</a:t>
            </a:r>
            <a:r>
              <a:rPr dirty="0" sz="1500" spc="-65" b="1">
                <a:latin typeface="Tahoma"/>
                <a:cs typeface="Tahoma"/>
              </a:rPr>
              <a:t> </a:t>
            </a:r>
            <a:r>
              <a:rPr dirty="0" sz="1500" spc="-20" b="1">
                <a:latin typeface="Tahoma"/>
                <a:cs typeface="Tahoma"/>
              </a:rPr>
              <a:t>Table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98235" y="3769802"/>
            <a:ext cx="1397635" cy="1799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920" marR="335915" indent="-236854">
              <a:lnSpc>
                <a:spcPct val="138300"/>
              </a:lnSpc>
              <a:spcBef>
                <a:spcPts val="100"/>
              </a:spcBef>
              <a:buChar char="•"/>
              <a:tabLst>
                <a:tab pos="248920" algn="l"/>
              </a:tabLst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Title</a:t>
            </a:r>
            <a:r>
              <a:rPr dirty="0" sz="12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description</a:t>
            </a:r>
            <a:endParaRPr sz="1200">
              <a:latin typeface="Tahoma"/>
              <a:cs typeface="Tahoma"/>
            </a:endParaRPr>
          </a:p>
          <a:p>
            <a:pPr marL="248920" marR="5080" indent="-236854">
              <a:lnSpc>
                <a:spcPts val="2000"/>
              </a:lnSpc>
              <a:spcBef>
                <a:spcPts val="150"/>
              </a:spcBef>
              <a:buChar char="•"/>
              <a:tabLst>
                <a:tab pos="248920" algn="l"/>
              </a:tabLst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Date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venue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details</a:t>
            </a:r>
            <a:endParaRPr sz="1200">
              <a:latin typeface="Tahoma"/>
              <a:cs typeface="Tahoma"/>
            </a:endParaRPr>
          </a:p>
          <a:p>
            <a:pPr marL="248920" marR="302260" indent="-236854">
              <a:lnSpc>
                <a:spcPts val="1989"/>
              </a:lnSpc>
              <a:spcBef>
                <a:spcPts val="5"/>
              </a:spcBef>
              <a:buChar char="•"/>
              <a:tabLst>
                <a:tab pos="248920" algn="l"/>
              </a:tabLst>
            </a:pP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Organising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20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endParaRPr sz="1200">
              <a:latin typeface="Tahoma"/>
              <a:cs typeface="Tahoma"/>
            </a:endParaRPr>
          </a:p>
          <a:p>
            <a:pPr marL="248920">
              <a:lnSpc>
                <a:spcPct val="100000"/>
              </a:lnSpc>
              <a:spcBef>
                <a:spcPts val="409"/>
              </a:spcBef>
            </a:pP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category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62054" y="3378506"/>
            <a:ext cx="1216025" cy="516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95"/>
              </a:spcBef>
            </a:pPr>
            <a:r>
              <a:rPr dirty="0" sz="1500" spc="-65" b="1">
                <a:latin typeface="Tahoma"/>
                <a:cs typeface="Tahoma"/>
              </a:rPr>
              <a:t>Registrations </a:t>
            </a:r>
            <a:r>
              <a:rPr dirty="0" sz="1500" spc="-10" b="1">
                <a:latin typeface="Tahoma"/>
                <a:cs typeface="Tahoma"/>
              </a:rPr>
              <a:t>Table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62079" y="4013656"/>
            <a:ext cx="1362075" cy="1544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920" marR="5080" indent="-236854">
              <a:lnSpc>
                <a:spcPct val="138300"/>
              </a:lnSpc>
              <a:spcBef>
                <a:spcPts val="100"/>
              </a:spcBef>
              <a:buChar char="•"/>
              <a:tabLst>
                <a:tab pos="248920" algn="l"/>
              </a:tabLst>
            </a:pP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event identifiers</a:t>
            </a:r>
            <a:endParaRPr sz="1200">
              <a:latin typeface="Tahoma"/>
              <a:cs typeface="Tahoma"/>
            </a:endParaRPr>
          </a:p>
          <a:p>
            <a:pPr marL="248920" marR="410209" indent="-236854">
              <a:lnSpc>
                <a:spcPts val="2000"/>
              </a:lnSpc>
              <a:spcBef>
                <a:spcPts val="150"/>
              </a:spcBef>
              <a:buChar char="•"/>
              <a:tabLst>
                <a:tab pos="248920" algn="l"/>
              </a:tabLst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12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status tracking</a:t>
            </a:r>
            <a:endParaRPr sz="1200">
              <a:latin typeface="Tahoma"/>
              <a:cs typeface="Tahoma"/>
            </a:endParaRPr>
          </a:p>
          <a:p>
            <a:pPr marL="248920" marR="302895" indent="-236854">
              <a:lnSpc>
                <a:spcPts val="1989"/>
              </a:lnSpc>
              <a:buChar char="•"/>
              <a:tabLst>
                <a:tab pos="248920" algn="l"/>
              </a:tabLst>
            </a:pP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Timestamp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recording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566" y="6184392"/>
            <a:ext cx="2858833" cy="5318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323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10"/>
              <a:t>Results</a:t>
            </a:r>
            <a:r>
              <a:rPr dirty="0" spc="-114"/>
              <a:t> </a:t>
            </a:r>
            <a:r>
              <a:rPr dirty="0" spc="-430"/>
              <a:t>&amp;</a:t>
            </a:r>
            <a:r>
              <a:rPr dirty="0" spc="-15"/>
              <a:t> </a:t>
            </a:r>
            <a:r>
              <a:rPr dirty="0" spc="-70"/>
              <a:t>Discussion:</a:t>
            </a:r>
            <a:r>
              <a:rPr dirty="0" spc="-155"/>
              <a:t> </a:t>
            </a:r>
            <a:r>
              <a:rPr dirty="0"/>
              <a:t>Key</a:t>
            </a:r>
            <a:r>
              <a:rPr dirty="0" spc="-114"/>
              <a:t> </a:t>
            </a:r>
            <a:r>
              <a:rPr dirty="0" spc="-85"/>
              <a:t>Features</a:t>
            </a:r>
            <a:r>
              <a:rPr dirty="0" spc="-110"/>
              <a:t> </a:t>
            </a:r>
            <a:r>
              <a:rPr dirty="0" spc="-145"/>
              <a:t>in</a:t>
            </a:r>
            <a:r>
              <a:rPr dirty="0" spc="-75"/>
              <a:t> </a:t>
            </a:r>
            <a:r>
              <a:rPr dirty="0" spc="-10"/>
              <a:t>Action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19" y="2688335"/>
            <a:ext cx="1666149" cy="16657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34390" y="4524209"/>
            <a:ext cx="2526030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25" b="1">
                <a:solidFill>
                  <a:srgbClr val="262424"/>
                </a:solidFill>
                <a:latin typeface="Tahoma"/>
                <a:cs typeface="Tahoma"/>
              </a:rPr>
              <a:t>QR-</a:t>
            </a:r>
            <a:r>
              <a:rPr dirty="0" sz="1500" spc="-20" b="1">
                <a:solidFill>
                  <a:srgbClr val="262424"/>
                </a:solidFill>
                <a:latin typeface="Tahoma"/>
                <a:cs typeface="Tahoma"/>
              </a:rPr>
              <a:t>Based</a:t>
            </a:r>
            <a:r>
              <a:rPr dirty="0" sz="1500" spc="6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262424"/>
                </a:solidFill>
                <a:latin typeface="Tahoma"/>
                <a:cs typeface="Tahoma"/>
              </a:rPr>
              <a:t>Check-</a:t>
            </a:r>
            <a:r>
              <a:rPr dirty="0" sz="1500" spc="-25" b="1">
                <a:solidFill>
                  <a:srgbClr val="262424"/>
                </a:solidFill>
                <a:latin typeface="Tahoma"/>
                <a:cs typeface="Tahoma"/>
              </a:rPr>
              <a:t>Ins</a:t>
            </a:r>
            <a:endParaRPr sz="1500">
              <a:latin typeface="Tahoma"/>
              <a:cs typeface="Tahoma"/>
            </a:endParaRPr>
          </a:p>
          <a:p>
            <a:pPr algn="just" marL="12700" marR="5080">
              <a:lnSpc>
                <a:spcPct val="138600"/>
              </a:lnSpc>
              <a:spcBef>
                <a:spcPts val="655"/>
              </a:spcBef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Students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receive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unique</a:t>
            </a:r>
            <a:r>
              <a:rPr dirty="0" sz="1200" spc="15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12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codes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upon</a:t>
            </a:r>
            <a:r>
              <a:rPr dirty="0" sz="1200" spc="2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registration,</a:t>
            </a:r>
            <a:r>
              <a:rPr dirty="0" sz="1200" spc="2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enabling</a:t>
            </a:r>
            <a:r>
              <a:rPr dirty="0" sz="1200" spc="3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instant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verification</a:t>
            </a:r>
            <a:r>
              <a:rPr dirty="0" sz="1200" spc="2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streamlined</a:t>
            </a:r>
            <a:r>
              <a:rPr dirty="0" sz="1200" spc="2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event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entry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6640" y="2688335"/>
            <a:ext cx="1665731" cy="166573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588474" y="4509263"/>
            <a:ext cx="2748915" cy="1357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86180">
              <a:lnSpc>
                <a:spcPct val="107300"/>
              </a:lnSpc>
              <a:spcBef>
                <a:spcPts val="95"/>
              </a:spcBef>
            </a:pPr>
            <a:r>
              <a:rPr dirty="0" sz="1500" spc="-55" b="1">
                <a:solidFill>
                  <a:srgbClr val="262424"/>
                </a:solidFill>
                <a:latin typeface="Tahoma"/>
                <a:cs typeface="Tahoma"/>
              </a:rPr>
              <a:t>Automated</a:t>
            </a:r>
            <a:r>
              <a:rPr dirty="0" sz="1500" spc="-4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60" b="1">
                <a:solidFill>
                  <a:srgbClr val="262424"/>
                </a:solidFill>
                <a:latin typeface="Tahoma"/>
                <a:cs typeface="Tahoma"/>
              </a:rPr>
              <a:t>Email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Confirmations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50"/>
              </a:spcBef>
            </a:pP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Instant</a:t>
            </a:r>
            <a:r>
              <a:rPr dirty="0" sz="1200" spc="1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email</a:t>
            </a:r>
            <a:r>
              <a:rPr dirty="0" sz="12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notifications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sent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students</a:t>
            </a:r>
            <a:r>
              <a:rPr dirty="0" sz="1200" spc="1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upon</a:t>
            </a:r>
            <a:r>
              <a:rPr dirty="0" sz="1200" spc="1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successful</a:t>
            </a:r>
            <a:r>
              <a:rPr dirty="0" sz="1200" spc="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registration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200" spc="1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details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6164" y="2688335"/>
            <a:ext cx="1671828" cy="166573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642576" y="4524209"/>
            <a:ext cx="2651760" cy="1098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65" b="1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1500" spc="-3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Analytics</a:t>
            </a:r>
            <a:endParaRPr sz="1500">
              <a:latin typeface="Tahoma"/>
              <a:cs typeface="Tahoma"/>
            </a:endParaRPr>
          </a:p>
          <a:p>
            <a:pPr algn="just"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Organisers</a:t>
            </a:r>
            <a:r>
              <a:rPr dirty="0" sz="1200" spc="1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access</a:t>
            </a:r>
            <a:r>
              <a:rPr dirty="0" sz="12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real-time</a:t>
            </a:r>
            <a:r>
              <a:rPr dirty="0" sz="1200" spc="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2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on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participant</a:t>
            </a:r>
            <a:r>
              <a:rPr dirty="0" sz="1200" spc="3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numbers,</a:t>
            </a:r>
            <a:r>
              <a:rPr dirty="0" sz="1200" spc="3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demographics,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engagement</a:t>
            </a:r>
            <a:r>
              <a:rPr dirty="0" sz="1200" spc="2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metrics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9920" y="6289548"/>
            <a:ext cx="1358479" cy="3784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ts val="3850"/>
              </a:lnSpc>
              <a:spcBef>
                <a:spcPts val="20"/>
              </a:spcBef>
            </a:pPr>
            <a:r>
              <a:rPr dirty="0" spc="-110"/>
              <a:t>Results</a:t>
            </a:r>
            <a:r>
              <a:rPr dirty="0" spc="-114"/>
              <a:t> </a:t>
            </a:r>
            <a:r>
              <a:rPr dirty="0" spc="-430"/>
              <a:t>&amp;</a:t>
            </a:r>
            <a:r>
              <a:rPr dirty="0" spc="-15"/>
              <a:t> </a:t>
            </a:r>
            <a:r>
              <a:rPr dirty="0" spc="-70"/>
              <a:t>Discussion:</a:t>
            </a:r>
            <a:r>
              <a:rPr dirty="0" spc="-155"/>
              <a:t> </a:t>
            </a:r>
            <a:r>
              <a:rPr dirty="0" spc="-35"/>
              <a:t>Technical</a:t>
            </a:r>
            <a:r>
              <a:rPr dirty="0" spc="-114"/>
              <a:t> </a:t>
            </a:r>
            <a:r>
              <a:rPr dirty="0" spc="-165"/>
              <a:t>Implementation </a:t>
            </a:r>
            <a:r>
              <a:rPr dirty="0" spc="-25"/>
              <a:t>Highlights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34390" y="3036780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62424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47115" y="3255264"/>
            <a:ext cx="2885440" cy="20320"/>
          </a:xfrm>
          <a:custGeom>
            <a:avLst/>
            <a:gdLst/>
            <a:ahLst/>
            <a:cxnLst/>
            <a:rect l="l" t="t" r="r" b="b"/>
            <a:pathLst>
              <a:path w="2885440" h="20320">
                <a:moveTo>
                  <a:pt x="2884932" y="19811"/>
                </a:moveTo>
                <a:lnTo>
                  <a:pt x="0" y="19811"/>
                </a:lnTo>
                <a:lnTo>
                  <a:pt x="0" y="0"/>
                </a:lnTo>
                <a:lnTo>
                  <a:pt x="2884932" y="0"/>
                </a:lnTo>
                <a:lnTo>
                  <a:pt x="2884932" y="19811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34390" y="3353790"/>
            <a:ext cx="2845435" cy="1098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Google</a:t>
            </a:r>
            <a:r>
              <a:rPr dirty="0" sz="1500" spc="-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262424"/>
                </a:solidFill>
                <a:latin typeface="Tahoma"/>
                <a:cs typeface="Tahoma"/>
              </a:rPr>
              <a:t>OAuth</a:t>
            </a:r>
            <a:r>
              <a:rPr dirty="0" sz="1500" spc="-6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Integration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Secure</a:t>
            </a:r>
            <a:r>
              <a:rPr dirty="0" sz="12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authentication</a:t>
            </a:r>
            <a:r>
              <a:rPr dirty="0" sz="1200" spc="1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2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ensuring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dirty="0" sz="1200" spc="1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protection</a:t>
            </a:r>
            <a:r>
              <a:rPr dirty="0" sz="1200" spc="2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whilst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simplifying</a:t>
            </a:r>
            <a:r>
              <a:rPr dirty="0" sz="1200" spc="2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the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login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experience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74792" y="3036780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62424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587496" y="3255264"/>
            <a:ext cx="2885440" cy="20320"/>
          </a:xfrm>
          <a:custGeom>
            <a:avLst/>
            <a:gdLst/>
            <a:ahLst/>
            <a:cxnLst/>
            <a:rect l="l" t="t" r="r" b="b"/>
            <a:pathLst>
              <a:path w="2885440" h="20320">
                <a:moveTo>
                  <a:pt x="2884932" y="19811"/>
                </a:moveTo>
                <a:lnTo>
                  <a:pt x="0" y="19811"/>
                </a:lnTo>
                <a:lnTo>
                  <a:pt x="0" y="0"/>
                </a:lnTo>
                <a:lnTo>
                  <a:pt x="2884932" y="0"/>
                </a:lnTo>
                <a:lnTo>
                  <a:pt x="2884932" y="19811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574785" y="3353790"/>
            <a:ext cx="2577465" cy="1098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40" b="1">
                <a:solidFill>
                  <a:srgbClr val="262424"/>
                </a:solidFill>
                <a:latin typeface="Tahoma"/>
                <a:cs typeface="Tahoma"/>
              </a:rPr>
              <a:t>Cloudinary</a:t>
            </a:r>
            <a:r>
              <a:rPr dirty="0" sz="1500" spc="-3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5" b="1">
                <a:solidFill>
                  <a:srgbClr val="262424"/>
                </a:solidFill>
                <a:latin typeface="Tahoma"/>
                <a:cs typeface="Tahoma"/>
              </a:rPr>
              <a:t>Image</a:t>
            </a:r>
            <a:r>
              <a:rPr dirty="0" sz="1500" spc="-2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Storage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65">
                <a:solidFill>
                  <a:srgbClr val="262424"/>
                </a:solidFill>
                <a:latin typeface="Tahoma"/>
                <a:cs typeface="Tahoma"/>
              </a:rPr>
              <a:t>Cloud-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based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solution</a:t>
            </a:r>
            <a:r>
              <a:rPr dirty="0" sz="1200" spc="1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managing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2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posters,</a:t>
            </a:r>
            <a:r>
              <a:rPr dirty="0" sz="1200" spc="2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banners,</a:t>
            </a:r>
            <a:r>
              <a:rPr dirty="0" sz="1200" spc="2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promotional</a:t>
            </a:r>
            <a:r>
              <a:rPr dirty="0" sz="1200" spc="2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materials</a:t>
            </a:r>
            <a:r>
              <a:rPr dirty="0" sz="1200" spc="2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efficiently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16692" y="3036780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62424"/>
                </a:solidFill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627876" y="3255264"/>
            <a:ext cx="2885440" cy="20320"/>
          </a:xfrm>
          <a:custGeom>
            <a:avLst/>
            <a:gdLst/>
            <a:ahLst/>
            <a:cxnLst/>
            <a:rect l="l" t="t" r="r" b="b"/>
            <a:pathLst>
              <a:path w="2885440" h="20320">
                <a:moveTo>
                  <a:pt x="2884931" y="19811"/>
                </a:moveTo>
                <a:lnTo>
                  <a:pt x="0" y="19811"/>
                </a:lnTo>
                <a:lnTo>
                  <a:pt x="0" y="0"/>
                </a:lnTo>
                <a:lnTo>
                  <a:pt x="2884931" y="0"/>
                </a:lnTo>
                <a:lnTo>
                  <a:pt x="2884931" y="19811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616675" y="3353790"/>
            <a:ext cx="2614930" cy="1098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45" b="1">
                <a:solidFill>
                  <a:srgbClr val="262424"/>
                </a:solidFill>
                <a:latin typeface="Tahoma"/>
                <a:cs typeface="Tahoma"/>
              </a:rPr>
              <a:t>Nodemailer</a:t>
            </a:r>
            <a:r>
              <a:rPr dirty="0" sz="1500" spc="-3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Automation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Automated</a:t>
            </a:r>
            <a:r>
              <a:rPr dirty="0" sz="1200" spc="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email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200" spc="1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262424"/>
                </a:solidFill>
                <a:latin typeface="Tahoma"/>
                <a:cs typeface="Tahoma"/>
              </a:rPr>
              <a:t>sending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instant</a:t>
            </a:r>
            <a:r>
              <a:rPr dirty="0" sz="1200" spc="11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confirmations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event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reminders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registered</a:t>
            </a:r>
            <a:r>
              <a:rPr dirty="0" sz="1200" spc="2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participants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4390" y="475895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62424"/>
                </a:solidFill>
                <a:latin typeface="Calibri"/>
                <a:cs typeface="Calibri"/>
              </a:rPr>
              <a:t>04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47115" y="4977384"/>
            <a:ext cx="4404360" cy="21590"/>
          </a:xfrm>
          <a:custGeom>
            <a:avLst/>
            <a:gdLst/>
            <a:ahLst/>
            <a:cxnLst/>
            <a:rect l="l" t="t" r="r" b="b"/>
            <a:pathLst>
              <a:path w="4404360" h="21589">
                <a:moveTo>
                  <a:pt x="4404360" y="21335"/>
                </a:moveTo>
                <a:lnTo>
                  <a:pt x="0" y="21335"/>
                </a:lnTo>
                <a:lnTo>
                  <a:pt x="0" y="0"/>
                </a:lnTo>
                <a:lnTo>
                  <a:pt x="4404360" y="0"/>
                </a:lnTo>
                <a:lnTo>
                  <a:pt x="4404360" y="21335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34390" y="5075899"/>
            <a:ext cx="401129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114" b="1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dirty="0" sz="1500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70" b="1">
                <a:solidFill>
                  <a:srgbClr val="262424"/>
                </a:solidFill>
                <a:latin typeface="Tahoma"/>
                <a:cs typeface="Tahoma"/>
              </a:rPr>
              <a:t>Route</a:t>
            </a:r>
            <a:r>
              <a:rPr dirty="0" sz="1500" spc="-2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Architecture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RESTful</a:t>
            </a:r>
            <a:r>
              <a:rPr dirty="0" sz="1200" spc="16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endpoints</a:t>
            </a:r>
            <a:r>
              <a:rPr dirty="0" sz="1200" spc="2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handling</a:t>
            </a:r>
            <a:r>
              <a:rPr dirty="0" sz="1200" spc="2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retrieval,</a:t>
            </a:r>
            <a:r>
              <a:rPr dirty="0" sz="1200" spc="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registration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processing,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management</a:t>
            </a:r>
            <a:r>
              <a:rPr dirty="0" sz="1200" spc="2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operations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95719" y="475895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62424"/>
                </a:solidFill>
                <a:latin typeface="Calibri"/>
                <a:cs typeface="Calibri"/>
              </a:rPr>
              <a:t>05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108447" y="4977384"/>
            <a:ext cx="4404360" cy="21590"/>
          </a:xfrm>
          <a:custGeom>
            <a:avLst/>
            <a:gdLst/>
            <a:ahLst/>
            <a:cxnLst/>
            <a:rect l="l" t="t" r="r" b="b"/>
            <a:pathLst>
              <a:path w="4404359" h="21589">
                <a:moveTo>
                  <a:pt x="4404359" y="21335"/>
                </a:moveTo>
                <a:lnTo>
                  <a:pt x="0" y="21335"/>
                </a:lnTo>
                <a:lnTo>
                  <a:pt x="0" y="0"/>
                </a:lnTo>
                <a:lnTo>
                  <a:pt x="4404359" y="0"/>
                </a:lnTo>
                <a:lnTo>
                  <a:pt x="4404359" y="21335"/>
                </a:lnTo>
                <a:close/>
              </a:path>
            </a:pathLst>
          </a:custGeom>
          <a:solidFill>
            <a:srgbClr val="495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095683" y="5075899"/>
            <a:ext cx="423926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65" b="1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1500" spc="-3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Intelligent</a:t>
            </a:r>
            <a:r>
              <a:rPr dirty="0" sz="1200" spc="2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system</a:t>
            </a:r>
            <a:r>
              <a:rPr dirty="0" sz="1200" spc="1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preventing</a:t>
            </a:r>
            <a:r>
              <a:rPr dirty="0" sz="1200" spc="20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duplicate</a:t>
            </a:r>
            <a:r>
              <a:rPr dirty="0" sz="1200" spc="20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registrations</a:t>
            </a:r>
            <a:r>
              <a:rPr dirty="0" sz="1200" spc="17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whilst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tracking</a:t>
            </a:r>
            <a:r>
              <a:rPr dirty="0" sz="1200" spc="1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participant</a:t>
            </a:r>
            <a:r>
              <a:rPr dirty="0" sz="1200" spc="2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engagement</a:t>
            </a:r>
            <a:r>
              <a:rPr dirty="0" sz="1200" spc="2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1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events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1057656"/>
            <a:ext cx="3777996" cy="56586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367" y="1822243"/>
            <a:ext cx="5107940" cy="1470660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ts val="3850"/>
              </a:lnSpc>
              <a:spcBef>
                <a:spcPts val="25"/>
              </a:spcBef>
            </a:pPr>
            <a:r>
              <a:rPr dirty="0" spc="-110"/>
              <a:t>Results</a:t>
            </a:r>
            <a:r>
              <a:rPr dirty="0" spc="-85"/>
              <a:t> </a:t>
            </a:r>
            <a:r>
              <a:rPr dirty="0" spc="-430"/>
              <a:t>&amp;</a:t>
            </a:r>
            <a:r>
              <a:rPr dirty="0" spc="-25"/>
              <a:t> </a:t>
            </a:r>
            <a:r>
              <a:rPr dirty="0" spc="-10"/>
              <a:t>Discussion: </a:t>
            </a:r>
            <a:r>
              <a:rPr dirty="0" spc="-200"/>
              <a:t>Impact</a:t>
            </a:r>
            <a:r>
              <a:rPr dirty="0" spc="-60"/>
              <a:t> </a:t>
            </a:r>
            <a:r>
              <a:rPr dirty="0" spc="-50"/>
              <a:t>Metrics</a:t>
            </a:r>
            <a:r>
              <a:rPr dirty="0" spc="-170"/>
              <a:t> </a:t>
            </a:r>
            <a:r>
              <a:rPr dirty="0" spc="-65"/>
              <a:t>and</a:t>
            </a:r>
            <a:r>
              <a:rPr dirty="0" spc="-100"/>
              <a:t> Student </a:t>
            </a:r>
            <a:r>
              <a:rPr dirty="0" spc="-10"/>
              <a:t>Engagement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12153" y="3494016"/>
            <a:ext cx="1473200" cy="2177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4000" spc="-480" b="1">
                <a:solidFill>
                  <a:srgbClr val="262424"/>
                </a:solidFill>
                <a:latin typeface="Tahoma"/>
                <a:cs typeface="Tahoma"/>
              </a:rPr>
              <a:t>100%</a:t>
            </a:r>
            <a:endParaRPr sz="4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dirty="0" sz="1500" spc="-45" b="1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500" spc="-35" b="1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Visibility</a:t>
            </a:r>
            <a:endParaRPr sz="1500">
              <a:latin typeface="Tahoma"/>
              <a:cs typeface="Tahoma"/>
            </a:endParaRPr>
          </a:p>
          <a:p>
            <a:pPr algn="ctr" marL="12065" marR="5080" indent="-1905">
              <a:lnSpc>
                <a:spcPct val="138600"/>
              </a:lnSpc>
              <a:spcBef>
                <a:spcPts val="660"/>
              </a:spcBef>
            </a:pPr>
            <a:r>
              <a:rPr dirty="0" sz="1200" spc="50">
                <a:solidFill>
                  <a:srgbClr val="262424"/>
                </a:solidFill>
                <a:latin typeface="Tahoma"/>
                <a:cs typeface="Tahoma"/>
              </a:rPr>
              <a:t>Complete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262424"/>
                </a:solidFill>
                <a:latin typeface="Tahoma"/>
                <a:cs typeface="Tahoma"/>
              </a:rPr>
              <a:t>access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inter-</a:t>
            </a:r>
            <a:r>
              <a:rPr dirty="0" sz="1200" spc="5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200" spc="2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events </a:t>
            </a:r>
            <a:r>
              <a:rPr dirty="0" sz="1200" spc="70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200" spc="-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0">
                <a:solidFill>
                  <a:srgbClr val="262424"/>
                </a:solidFill>
                <a:latin typeface="Tahoma"/>
                <a:cs typeface="Tahoma"/>
              </a:rPr>
              <a:t>Bangalore's 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campus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circuit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48501" y="3494016"/>
            <a:ext cx="3454400" cy="2421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35000">
              <a:lnSpc>
                <a:spcPct val="100000"/>
              </a:lnSpc>
              <a:spcBef>
                <a:spcPts val="120"/>
              </a:spcBef>
              <a:tabLst>
                <a:tab pos="1772285" algn="l"/>
              </a:tabLst>
            </a:pPr>
            <a:r>
              <a:rPr dirty="0" sz="4000" spc="-50" b="1">
                <a:solidFill>
                  <a:srgbClr val="262424"/>
                </a:solidFill>
                <a:latin typeface="Tahoma"/>
                <a:cs typeface="Tahoma"/>
              </a:rPr>
              <a:t>0</a:t>
            </a:r>
            <a:r>
              <a:rPr dirty="0" sz="4000" b="1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4000" spc="-395" b="1">
                <a:solidFill>
                  <a:srgbClr val="262424"/>
                </a:solidFill>
                <a:latin typeface="Tahoma"/>
                <a:cs typeface="Tahoma"/>
              </a:rPr>
              <a:t>1-</a:t>
            </a:r>
            <a:r>
              <a:rPr dirty="0" sz="4000" spc="-20" b="1">
                <a:solidFill>
                  <a:srgbClr val="262424"/>
                </a:solidFill>
                <a:latin typeface="Tahoma"/>
                <a:cs typeface="Tahoma"/>
              </a:rPr>
              <a:t>Click</a:t>
            </a:r>
            <a:endParaRPr sz="4000">
              <a:latin typeface="Tahoma"/>
              <a:cs typeface="Tahoma"/>
            </a:endParaRPr>
          </a:p>
          <a:p>
            <a:pPr marL="200660" marR="108585" indent="269240">
              <a:lnSpc>
                <a:spcPct val="150700"/>
              </a:lnSpc>
              <a:spcBef>
                <a:spcPts val="770"/>
              </a:spcBef>
              <a:tabLst>
                <a:tab pos="1849755" algn="l"/>
                <a:tab pos="2047875" algn="l"/>
              </a:tabLst>
            </a:pP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Double</a:t>
            </a:r>
            <a:r>
              <a:rPr dirty="0" sz="1500" b="1">
                <a:solidFill>
                  <a:srgbClr val="262424"/>
                </a:solidFill>
                <a:latin typeface="Tahoma"/>
                <a:cs typeface="Tahoma"/>
              </a:rPr>
              <a:t>		</a:t>
            </a:r>
            <a:r>
              <a:rPr dirty="0" sz="1500" spc="-10" b="1">
                <a:solidFill>
                  <a:srgbClr val="262424"/>
                </a:solidFill>
                <a:latin typeface="Tahoma"/>
                <a:cs typeface="Tahoma"/>
              </a:rPr>
              <a:t>Registration </a:t>
            </a:r>
            <a:r>
              <a:rPr dirty="0" baseline="29629" sz="2250" spc="-15" b="1">
                <a:solidFill>
                  <a:srgbClr val="262424"/>
                </a:solidFill>
                <a:latin typeface="Tahoma"/>
                <a:cs typeface="Tahoma"/>
              </a:rPr>
              <a:t>Registrations</a:t>
            </a:r>
            <a:r>
              <a:rPr dirty="0" baseline="29629" sz="2250" b="1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Streamlined</a:t>
            </a:r>
            <a:r>
              <a:rPr dirty="0" sz="1200" spc="2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process</a:t>
            </a:r>
            <a:endParaRPr sz="1200">
              <a:latin typeface="Tahoma"/>
              <a:cs typeface="Tahoma"/>
            </a:endParaRPr>
          </a:p>
          <a:p>
            <a:pPr marL="38100" marR="213360" indent="12065">
              <a:lnSpc>
                <a:spcPts val="1989"/>
              </a:lnSpc>
              <a:spcBef>
                <a:spcPts val="100"/>
              </a:spcBef>
              <a:tabLst>
                <a:tab pos="1953260" algn="l"/>
                <a:tab pos="2052320" algn="l"/>
              </a:tabLst>
            </a:pPr>
            <a:r>
              <a:rPr dirty="0" baseline="2314" sz="1800">
                <a:solidFill>
                  <a:srgbClr val="262424"/>
                </a:solidFill>
                <a:latin typeface="Tahoma"/>
                <a:cs typeface="Tahoma"/>
              </a:rPr>
              <a:t>Smart</a:t>
            </a:r>
            <a:r>
              <a:rPr dirty="0" baseline="2314" sz="1800" spc="97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baseline="2314" sz="1800" spc="82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r>
              <a:rPr dirty="0" baseline="2314" sz="1800" spc="104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baseline="2314" sz="1800" spc="-15">
                <a:solidFill>
                  <a:srgbClr val="262424"/>
                </a:solidFill>
                <a:latin typeface="Tahoma"/>
                <a:cs typeface="Tahoma"/>
              </a:rPr>
              <a:t>prevents</a:t>
            </a:r>
            <a:r>
              <a:rPr dirty="0" baseline="2314" sz="180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dirty="0" sz="1200" spc="60">
                <a:solidFill>
                  <a:srgbClr val="262424"/>
                </a:solidFill>
                <a:latin typeface="Tahoma"/>
                <a:cs typeface="Tahoma"/>
              </a:rPr>
              <a:t> discovery</a:t>
            </a:r>
            <a:r>
              <a:rPr dirty="0" sz="12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baseline="2314" sz="1800" spc="15">
                <a:solidFill>
                  <a:srgbClr val="262424"/>
                </a:solidFill>
                <a:latin typeface="Tahoma"/>
                <a:cs typeface="Tahoma"/>
              </a:rPr>
              <a:t>duplicate</a:t>
            </a:r>
            <a:r>
              <a:rPr dirty="0" baseline="2314" sz="1800" spc="352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baseline="2314" sz="1800" spc="15">
                <a:solidFill>
                  <a:srgbClr val="262424"/>
                </a:solidFill>
                <a:latin typeface="Tahoma"/>
                <a:cs typeface="Tahoma"/>
              </a:rPr>
              <a:t>entries</a:t>
            </a:r>
            <a:r>
              <a:rPr dirty="0" baseline="2314" sz="1800" spc="337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baseline="2314" sz="1800" spc="-37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baseline="2314" sz="1800">
                <a:solidFill>
                  <a:srgbClr val="262424"/>
                </a:solidFill>
                <a:latin typeface="Tahoma"/>
                <a:cs typeface="Tahoma"/>
              </a:rPr>
              <a:t>		</a:t>
            </a:r>
            <a:r>
              <a:rPr dirty="0" sz="1200" spc="10">
                <a:solidFill>
                  <a:srgbClr val="262424"/>
                </a:solidFill>
                <a:latin typeface="Tahoma"/>
                <a:cs typeface="Tahoma"/>
              </a:rPr>
              <a:t>confirmation</a:t>
            </a:r>
            <a:r>
              <a:rPr dirty="0" sz="1200" spc="3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endParaRPr sz="1200">
              <a:latin typeface="Tahoma"/>
              <a:cs typeface="Tahoma"/>
            </a:endParaRPr>
          </a:p>
          <a:p>
            <a:pPr marL="97155" marR="355600" indent="71120">
              <a:lnSpc>
                <a:spcPts val="1920"/>
              </a:lnSpc>
              <a:spcBef>
                <a:spcPts val="25"/>
              </a:spcBef>
              <a:tabLst>
                <a:tab pos="2096770" algn="l"/>
              </a:tabLst>
            </a:pPr>
            <a:r>
              <a:rPr dirty="0" baseline="4629" sz="1800" spc="75">
                <a:solidFill>
                  <a:srgbClr val="262424"/>
                </a:solidFill>
                <a:latin typeface="Tahoma"/>
                <a:cs typeface="Tahoma"/>
              </a:rPr>
              <a:t>ensures</a:t>
            </a:r>
            <a:r>
              <a:rPr dirty="0" baseline="4629" sz="18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baseline="4629" sz="1800" spc="60">
                <a:solidFill>
                  <a:srgbClr val="262424"/>
                </a:solidFill>
                <a:latin typeface="Tahoma"/>
                <a:cs typeface="Tahoma"/>
              </a:rPr>
              <a:t>accurate</a:t>
            </a:r>
            <a:r>
              <a:rPr dirty="0" baseline="4629" sz="1800">
                <a:solidFill>
                  <a:srgbClr val="262424"/>
                </a:solidFill>
                <a:latin typeface="Tahoma"/>
                <a:cs typeface="Tahoma"/>
              </a:rPr>
              <a:t>	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minimal</a:t>
            </a:r>
            <a:r>
              <a:rPr dirty="0" sz="1200" spc="1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62424"/>
                </a:solidFill>
                <a:latin typeface="Tahoma"/>
                <a:cs typeface="Tahoma"/>
              </a:rPr>
              <a:t>steps </a:t>
            </a:r>
            <a:r>
              <a:rPr dirty="0" sz="1200">
                <a:solidFill>
                  <a:srgbClr val="262424"/>
                </a:solidFill>
                <a:latin typeface="Tahoma"/>
                <a:cs typeface="Tahoma"/>
              </a:rPr>
              <a:t>participant</a:t>
            </a:r>
            <a:r>
              <a:rPr dirty="0" sz="1200" spc="3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62424"/>
                </a:solidFill>
                <a:latin typeface="Tahoma"/>
                <a:cs typeface="Tahoma"/>
              </a:rPr>
              <a:t>tracking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4035"/>
            <a:ext cx="1168907" cy="304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147" y="1468643"/>
            <a:ext cx="8502650" cy="4191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 spc="-45"/>
              <a:t>Conclusion:</a:t>
            </a:r>
            <a:r>
              <a:rPr dirty="0" sz="2550" spc="-135"/>
              <a:t> </a:t>
            </a:r>
            <a:r>
              <a:rPr dirty="0" sz="2550" spc="-105"/>
              <a:t>Building</a:t>
            </a:r>
            <a:r>
              <a:rPr dirty="0" sz="2550" spc="-80"/>
              <a:t> </a:t>
            </a:r>
            <a:r>
              <a:rPr dirty="0" sz="2550"/>
              <a:t>a</a:t>
            </a:r>
            <a:r>
              <a:rPr dirty="0" sz="2550" spc="-60"/>
              <a:t> </a:t>
            </a:r>
            <a:r>
              <a:rPr dirty="0" sz="2550" spc="-20"/>
              <a:t>Connected</a:t>
            </a:r>
            <a:r>
              <a:rPr dirty="0" sz="2550" spc="-114"/>
              <a:t> </a:t>
            </a:r>
            <a:r>
              <a:rPr dirty="0" sz="2550" spc="-10"/>
              <a:t>Campus</a:t>
            </a:r>
            <a:r>
              <a:rPr dirty="0" sz="2550" spc="-95"/>
              <a:t> </a:t>
            </a:r>
            <a:r>
              <a:rPr dirty="0" sz="2550" spc="-50"/>
              <a:t>Community</a:t>
            </a:r>
            <a:endParaRPr sz="2550"/>
          </a:p>
        </p:txBody>
      </p:sp>
      <p:sp>
        <p:nvSpPr>
          <p:cNvPr id="4" name="object 4" descr=""/>
          <p:cNvSpPr txBox="1"/>
          <p:nvPr/>
        </p:nvSpPr>
        <p:spPr>
          <a:xfrm>
            <a:off x="490243" y="3512547"/>
            <a:ext cx="5795645" cy="1281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0"/>
              </a:spcBef>
            </a:pP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EventHub</a:t>
            </a:r>
            <a:r>
              <a:rPr dirty="0" sz="10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262424"/>
                </a:solidFill>
                <a:latin typeface="Tahoma"/>
                <a:cs typeface="Tahoma"/>
              </a:rPr>
              <a:t>addresses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fragmentation</a:t>
            </a:r>
            <a:r>
              <a:rPr dirty="0" sz="100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information</a:t>
            </a:r>
            <a:r>
              <a:rPr dirty="0" sz="10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Bangalore's</a:t>
            </a:r>
            <a:r>
              <a:rPr dirty="0" sz="100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262424"/>
                </a:solidFill>
                <a:latin typeface="Tahoma"/>
                <a:cs typeface="Tahoma"/>
              </a:rPr>
              <a:t>college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circuit.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By 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centralising</a:t>
            </a:r>
            <a:r>
              <a:rPr dirty="0" sz="1000" spc="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dirty="0" sz="1000" spc="65">
                <a:solidFill>
                  <a:srgbClr val="262424"/>
                </a:solidFill>
                <a:latin typeface="Tahoma"/>
                <a:cs typeface="Tahoma"/>
              </a:rPr>
              <a:t> discovery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streamlining</a:t>
            </a:r>
            <a:r>
              <a:rPr dirty="0" sz="1000" spc="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registration</a:t>
            </a:r>
            <a:r>
              <a:rPr dirty="0" sz="100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through</a:t>
            </a:r>
            <a:r>
              <a:rPr dirty="0" sz="1000" spc="8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modern</a:t>
            </a:r>
            <a:r>
              <a:rPr dirty="0" sz="1000" spc="80">
                <a:solidFill>
                  <a:srgbClr val="262424"/>
                </a:solidFill>
                <a:latin typeface="Tahoma"/>
                <a:cs typeface="Tahoma"/>
              </a:rPr>
              <a:t> web</a:t>
            </a:r>
            <a:r>
              <a:rPr dirty="0" sz="1000" spc="8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technologies and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innovative</a:t>
            </a:r>
            <a:r>
              <a:rPr dirty="0" sz="1000" spc="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features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like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QR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85">
                <a:solidFill>
                  <a:srgbClr val="262424"/>
                </a:solidFill>
                <a:latin typeface="Tahoma"/>
                <a:cs typeface="Tahoma"/>
              </a:rPr>
              <a:t>check-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ins,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platform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effectively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bridges</a:t>
            </a:r>
            <a:r>
              <a:rPr dirty="0" sz="10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70">
                <a:solidFill>
                  <a:srgbClr val="262424"/>
                </a:solidFill>
                <a:latin typeface="Tahoma"/>
                <a:cs typeface="Tahoma"/>
              </a:rPr>
              <a:t>gap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between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organisers</a:t>
            </a:r>
            <a:r>
              <a:rPr dirty="0" sz="100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students.</a:t>
            </a:r>
            <a:endParaRPr sz="1000">
              <a:latin typeface="Tahoma"/>
              <a:cs typeface="Tahoma"/>
            </a:endParaRPr>
          </a:p>
          <a:p>
            <a:pPr marL="12700" marR="87630">
              <a:lnSpc>
                <a:spcPct val="126000"/>
              </a:lnSpc>
              <a:spcBef>
                <a:spcPts val="820"/>
              </a:spcBef>
            </a:pP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result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is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more</a:t>
            </a:r>
            <a:r>
              <a:rPr dirty="0" sz="10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engaged,</a:t>
            </a:r>
            <a:r>
              <a:rPr dirty="0" sz="1000" spc="2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262424"/>
                </a:solidFill>
                <a:latin typeface="Tahoma"/>
                <a:cs typeface="Tahoma"/>
              </a:rPr>
              <a:t>connected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student</a:t>
            </a:r>
            <a:r>
              <a:rPr dirty="0" sz="1000" spc="-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community</a:t>
            </a:r>
            <a:r>
              <a:rPr dirty="0" sz="100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262424"/>
                </a:solidFill>
                <a:latin typeface="Tahoma"/>
                <a:cs typeface="Tahoma"/>
              </a:rPr>
              <a:t>unprecedented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85">
                <a:solidFill>
                  <a:srgbClr val="262424"/>
                </a:solidFill>
                <a:latin typeface="Tahoma"/>
                <a:cs typeface="Tahoma"/>
              </a:rPr>
              <a:t>access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62424"/>
                </a:solidFill>
                <a:latin typeface="Tahoma"/>
                <a:cs typeface="Tahoma"/>
              </a:rPr>
              <a:t>to 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opportunities</a:t>
            </a:r>
            <a:r>
              <a:rPr dirty="0" sz="1000" spc="-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dirty="0" sz="10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learning,</a:t>
            </a:r>
            <a:r>
              <a:rPr dirty="0" sz="1000" spc="45">
                <a:solidFill>
                  <a:srgbClr val="262424"/>
                </a:solidFill>
                <a:latin typeface="Tahoma"/>
                <a:cs typeface="Tahoma"/>
              </a:rPr>
              <a:t> competition,</a:t>
            </a:r>
            <a:r>
              <a:rPr dirty="0" sz="100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dirty="0" sz="1000" spc="3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62424"/>
                </a:solidFill>
                <a:latin typeface="Tahoma"/>
                <a:cs typeface="Tahoma"/>
              </a:rPr>
              <a:t>personal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62424"/>
                </a:solidFill>
                <a:latin typeface="Tahoma"/>
                <a:cs typeface="Tahoma"/>
              </a:rPr>
              <a:t>growth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262424"/>
                </a:solidFill>
                <a:latin typeface="Tahoma"/>
                <a:cs typeface="Tahoma"/>
              </a:rPr>
              <a:t>across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62424"/>
                </a:solidFill>
                <a:latin typeface="Tahoma"/>
                <a:cs typeface="Tahoma"/>
              </a:rPr>
              <a:t>institutional</a:t>
            </a:r>
            <a:r>
              <a:rPr dirty="0" sz="1000" spc="1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262424"/>
                </a:solidFill>
                <a:latin typeface="Tahoma"/>
                <a:cs typeface="Tahoma"/>
              </a:rPr>
              <a:t>boundaries.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7396" y="2197607"/>
            <a:ext cx="2967227" cy="3956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Danish</dc:creator>
  <dc:title>Microsoft PowerPoint - Introduction-EventHub-Platform (1)</dc:title>
  <dcterms:created xsi:type="dcterms:W3CDTF">2026-03-19T08:09:29Z</dcterms:created>
  <dcterms:modified xsi:type="dcterms:W3CDTF">2026-03-19T08:09:29Z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